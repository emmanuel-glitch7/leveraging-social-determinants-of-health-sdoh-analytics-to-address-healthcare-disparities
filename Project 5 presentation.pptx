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4"/>
  </p:notesMasterIdLst>
  <p:sldIdLst>
    <p:sldId id="257" r:id="rId2"/>
    <p:sldId id="258" r:id="rId3"/>
    <p:sldId id="259" r:id="rId4"/>
    <p:sldId id="263" r:id="rId5"/>
    <p:sldId id="265" r:id="rId6"/>
    <p:sldId id="271" r:id="rId7"/>
    <p:sldId id="272" r:id="rId8"/>
    <p:sldId id="273" r:id="rId9"/>
    <p:sldId id="276" r:id="rId10"/>
    <p:sldId id="277" r:id="rId11"/>
    <p:sldId id="269" r:id="rId12"/>
    <p:sldId id="278" r:id="rId13"/>
    <p:sldId id="280" r:id="rId14"/>
    <p:sldId id="279" r:id="rId15"/>
    <p:sldId id="281" r:id="rId16"/>
    <p:sldId id="282" r:id="rId17"/>
    <p:sldId id="284" r:id="rId18"/>
    <p:sldId id="283" r:id="rId19"/>
    <p:sldId id="285" r:id="rId20"/>
    <p:sldId id="261" r:id="rId21"/>
    <p:sldId id="262" r:id="rId22"/>
    <p:sldId id="286" r:id="rId2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8B5AF"/>
    <a:srgbClr val="095147"/>
    <a:srgbClr val="38373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p:scale>
          <a:sx n="58" d="100"/>
          <a:sy n="58" d="100"/>
        </p:scale>
        <p:origin x="920" y="33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85A94C5-ACCB-4B0A-885B-0B3F165C8F17}" type="datetimeFigureOut">
              <a:rPr lang="en-GB" smtClean="0"/>
              <a:t>02/02/2026</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7BD8EDA-B3D2-4BCE-9F37-246CF2BEB01C}" type="slidenum">
              <a:rPr lang="en-GB" smtClean="0"/>
              <a:t>‹#›</a:t>
            </a:fld>
            <a:endParaRPr lang="en-GB"/>
          </a:p>
        </p:txBody>
      </p:sp>
    </p:spTree>
    <p:extLst>
      <p:ext uri="{BB962C8B-B14F-4D97-AF65-F5344CB8AC3E}">
        <p14:creationId xmlns:p14="http://schemas.microsoft.com/office/powerpoint/2010/main" val="194794607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C7BD8EDA-B3D2-4BCE-9F37-246CF2BEB01C}" type="slidenum">
              <a:rPr lang="en-GB" smtClean="0"/>
              <a:t>21</a:t>
            </a:fld>
            <a:endParaRPr lang="en-GB"/>
          </a:p>
        </p:txBody>
      </p:sp>
    </p:spTree>
    <p:extLst>
      <p:ext uri="{BB962C8B-B14F-4D97-AF65-F5344CB8AC3E}">
        <p14:creationId xmlns:p14="http://schemas.microsoft.com/office/powerpoint/2010/main" val="358458469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063D34-8667-F278-4F9B-8AFCF131B660}"/>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p>
        </p:txBody>
      </p:sp>
      <p:sp>
        <p:nvSpPr>
          <p:cNvPr id="3" name="Subtitle 2">
            <a:extLst>
              <a:ext uri="{FF2B5EF4-FFF2-40B4-BE49-F238E27FC236}">
                <a16:creationId xmlns:a16="http://schemas.microsoft.com/office/drawing/2014/main" id="{6DB084E7-15C5-D88C-D05F-20116F0B968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p>
        </p:txBody>
      </p:sp>
      <p:sp>
        <p:nvSpPr>
          <p:cNvPr id="4" name="Date Placeholder 3">
            <a:extLst>
              <a:ext uri="{FF2B5EF4-FFF2-40B4-BE49-F238E27FC236}">
                <a16:creationId xmlns:a16="http://schemas.microsoft.com/office/drawing/2014/main" id="{589562A9-4661-FB0D-B15F-C51C80694621}"/>
              </a:ext>
            </a:extLst>
          </p:cNvPr>
          <p:cNvSpPr>
            <a:spLocks noGrp="1"/>
          </p:cNvSpPr>
          <p:nvPr>
            <p:ph type="dt" sz="half" idx="10"/>
          </p:nvPr>
        </p:nvSpPr>
        <p:spPr/>
        <p:txBody>
          <a:bodyPr/>
          <a:lstStyle/>
          <a:p>
            <a:fld id="{E43D2CFD-DD55-47F9-A76C-A9E7CFBA33B9}" type="datetimeFigureOut">
              <a:rPr lang="en-GB" smtClean="0"/>
              <a:t>02/02/2026</a:t>
            </a:fld>
            <a:endParaRPr lang="en-GB"/>
          </a:p>
        </p:txBody>
      </p:sp>
      <p:sp>
        <p:nvSpPr>
          <p:cNvPr id="5" name="Footer Placeholder 4">
            <a:extLst>
              <a:ext uri="{FF2B5EF4-FFF2-40B4-BE49-F238E27FC236}">
                <a16:creationId xmlns:a16="http://schemas.microsoft.com/office/drawing/2014/main" id="{EE0A35B2-3FA3-811A-2AC3-301C13326164}"/>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7F0D2A5B-56AB-E3E3-8172-8D2056BB8340}"/>
              </a:ext>
            </a:extLst>
          </p:cNvPr>
          <p:cNvSpPr>
            <a:spLocks noGrp="1"/>
          </p:cNvSpPr>
          <p:nvPr>
            <p:ph type="sldNum" sz="quarter" idx="12"/>
          </p:nvPr>
        </p:nvSpPr>
        <p:spPr/>
        <p:txBody>
          <a:bodyPr/>
          <a:lstStyle/>
          <a:p>
            <a:fld id="{9C56FA8A-BDFA-4FD3-853D-2D09D98810B0}" type="slidenum">
              <a:rPr lang="en-GB" smtClean="0"/>
              <a:t>‹#›</a:t>
            </a:fld>
            <a:endParaRPr lang="en-GB"/>
          </a:p>
        </p:txBody>
      </p:sp>
    </p:spTree>
    <p:extLst>
      <p:ext uri="{BB962C8B-B14F-4D97-AF65-F5344CB8AC3E}">
        <p14:creationId xmlns:p14="http://schemas.microsoft.com/office/powerpoint/2010/main" val="347150872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60EF86-B0B4-6BE9-3F70-01F59B23966D}"/>
              </a:ext>
            </a:extLst>
          </p:cNvPr>
          <p:cNvSpPr>
            <a:spLocks noGrp="1"/>
          </p:cNvSpPr>
          <p:nvPr>
            <p:ph type="title"/>
          </p:nvPr>
        </p:nvSpPr>
        <p:spPr/>
        <p:txBody>
          <a:bodyPr/>
          <a:lstStyle/>
          <a:p>
            <a:r>
              <a:rPr lang="en-GB"/>
              <a:t>Click to edit Master title style</a:t>
            </a:r>
          </a:p>
        </p:txBody>
      </p:sp>
      <p:sp>
        <p:nvSpPr>
          <p:cNvPr id="3" name="Content Placeholder 2">
            <a:extLst>
              <a:ext uri="{FF2B5EF4-FFF2-40B4-BE49-F238E27FC236}">
                <a16:creationId xmlns:a16="http://schemas.microsoft.com/office/drawing/2014/main" id="{1039F5BA-432C-9C3D-7D28-88FD9051310B}"/>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DE7014AB-1CB1-B5AA-33D2-51F3004C514D}"/>
              </a:ext>
            </a:extLst>
          </p:cNvPr>
          <p:cNvSpPr>
            <a:spLocks noGrp="1"/>
          </p:cNvSpPr>
          <p:nvPr>
            <p:ph type="dt" sz="half" idx="10"/>
          </p:nvPr>
        </p:nvSpPr>
        <p:spPr/>
        <p:txBody>
          <a:bodyPr/>
          <a:lstStyle/>
          <a:p>
            <a:fld id="{E43D2CFD-DD55-47F9-A76C-A9E7CFBA33B9}" type="datetimeFigureOut">
              <a:rPr lang="en-GB" smtClean="0"/>
              <a:t>02/02/2026</a:t>
            </a:fld>
            <a:endParaRPr lang="en-GB"/>
          </a:p>
        </p:txBody>
      </p:sp>
      <p:sp>
        <p:nvSpPr>
          <p:cNvPr id="5" name="Footer Placeholder 4">
            <a:extLst>
              <a:ext uri="{FF2B5EF4-FFF2-40B4-BE49-F238E27FC236}">
                <a16:creationId xmlns:a16="http://schemas.microsoft.com/office/drawing/2014/main" id="{617BCB4B-0C06-8E3B-F815-8D28B96530CD}"/>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8F66417A-F8F4-CE77-B8AB-992989807657}"/>
              </a:ext>
            </a:extLst>
          </p:cNvPr>
          <p:cNvSpPr>
            <a:spLocks noGrp="1"/>
          </p:cNvSpPr>
          <p:nvPr>
            <p:ph type="sldNum" sz="quarter" idx="12"/>
          </p:nvPr>
        </p:nvSpPr>
        <p:spPr/>
        <p:txBody>
          <a:bodyPr/>
          <a:lstStyle/>
          <a:p>
            <a:fld id="{9C56FA8A-BDFA-4FD3-853D-2D09D98810B0}" type="slidenum">
              <a:rPr lang="en-GB" smtClean="0"/>
              <a:t>‹#›</a:t>
            </a:fld>
            <a:endParaRPr lang="en-GB"/>
          </a:p>
        </p:txBody>
      </p:sp>
    </p:spTree>
    <p:extLst>
      <p:ext uri="{BB962C8B-B14F-4D97-AF65-F5344CB8AC3E}">
        <p14:creationId xmlns:p14="http://schemas.microsoft.com/office/powerpoint/2010/main" val="164904974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E3D47A-ED9C-DE4C-565D-4D95FD9916C3}"/>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p>
        </p:txBody>
      </p:sp>
      <p:sp>
        <p:nvSpPr>
          <p:cNvPr id="3" name="Text Placeholder 2">
            <a:extLst>
              <a:ext uri="{FF2B5EF4-FFF2-40B4-BE49-F238E27FC236}">
                <a16:creationId xmlns:a16="http://schemas.microsoft.com/office/drawing/2014/main" id="{82A4B925-13C6-9E56-E0DF-F680AAADA81F}"/>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7381AE64-CA6D-9098-2FD6-F5099AF5C760}"/>
              </a:ext>
            </a:extLst>
          </p:cNvPr>
          <p:cNvSpPr>
            <a:spLocks noGrp="1"/>
          </p:cNvSpPr>
          <p:nvPr>
            <p:ph type="dt" sz="half" idx="10"/>
          </p:nvPr>
        </p:nvSpPr>
        <p:spPr/>
        <p:txBody>
          <a:bodyPr/>
          <a:lstStyle/>
          <a:p>
            <a:fld id="{E43D2CFD-DD55-47F9-A76C-A9E7CFBA33B9}" type="datetimeFigureOut">
              <a:rPr lang="en-GB" smtClean="0"/>
              <a:t>02/02/2026</a:t>
            </a:fld>
            <a:endParaRPr lang="en-GB"/>
          </a:p>
        </p:txBody>
      </p:sp>
      <p:sp>
        <p:nvSpPr>
          <p:cNvPr id="5" name="Footer Placeholder 4">
            <a:extLst>
              <a:ext uri="{FF2B5EF4-FFF2-40B4-BE49-F238E27FC236}">
                <a16:creationId xmlns:a16="http://schemas.microsoft.com/office/drawing/2014/main" id="{E0255CCB-C4B7-6057-B841-E36728B97C62}"/>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A03942E2-4D74-BCA1-5E61-99F0E2F8F01D}"/>
              </a:ext>
            </a:extLst>
          </p:cNvPr>
          <p:cNvSpPr>
            <a:spLocks noGrp="1"/>
          </p:cNvSpPr>
          <p:nvPr>
            <p:ph type="sldNum" sz="quarter" idx="12"/>
          </p:nvPr>
        </p:nvSpPr>
        <p:spPr/>
        <p:txBody>
          <a:bodyPr/>
          <a:lstStyle/>
          <a:p>
            <a:fld id="{9C56FA8A-BDFA-4FD3-853D-2D09D98810B0}" type="slidenum">
              <a:rPr lang="en-GB" smtClean="0"/>
              <a:t>‹#›</a:t>
            </a:fld>
            <a:endParaRPr lang="en-GB"/>
          </a:p>
        </p:txBody>
      </p:sp>
    </p:spTree>
    <p:extLst>
      <p:ext uri="{BB962C8B-B14F-4D97-AF65-F5344CB8AC3E}">
        <p14:creationId xmlns:p14="http://schemas.microsoft.com/office/powerpoint/2010/main" val="209744008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83F88E-8888-7D0A-F80A-0B4EA928D92D}"/>
              </a:ext>
            </a:extLst>
          </p:cNvPr>
          <p:cNvSpPr>
            <a:spLocks noGrp="1"/>
          </p:cNvSpPr>
          <p:nvPr>
            <p:ph type="title"/>
          </p:nvPr>
        </p:nvSpPr>
        <p:spPr/>
        <p:txBody>
          <a:bodyPr/>
          <a:lstStyle/>
          <a:p>
            <a:r>
              <a:rPr lang="en-GB"/>
              <a:t>Click to edit Master title style</a:t>
            </a:r>
          </a:p>
        </p:txBody>
      </p:sp>
      <p:sp>
        <p:nvSpPr>
          <p:cNvPr id="3" name="Content Placeholder 2">
            <a:extLst>
              <a:ext uri="{FF2B5EF4-FFF2-40B4-BE49-F238E27FC236}">
                <a16:creationId xmlns:a16="http://schemas.microsoft.com/office/drawing/2014/main" id="{260643BA-4BF9-3F9F-2B7D-4380481B3161}"/>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Content Placeholder 3">
            <a:extLst>
              <a:ext uri="{FF2B5EF4-FFF2-40B4-BE49-F238E27FC236}">
                <a16:creationId xmlns:a16="http://schemas.microsoft.com/office/drawing/2014/main" id="{442CF644-6F8B-E952-4D6A-0BF59A70CF7E}"/>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5" name="Date Placeholder 4">
            <a:extLst>
              <a:ext uri="{FF2B5EF4-FFF2-40B4-BE49-F238E27FC236}">
                <a16:creationId xmlns:a16="http://schemas.microsoft.com/office/drawing/2014/main" id="{733D5FCB-88FA-EE82-5763-4F269E38DD30}"/>
              </a:ext>
            </a:extLst>
          </p:cNvPr>
          <p:cNvSpPr>
            <a:spLocks noGrp="1"/>
          </p:cNvSpPr>
          <p:nvPr>
            <p:ph type="dt" sz="half" idx="10"/>
          </p:nvPr>
        </p:nvSpPr>
        <p:spPr/>
        <p:txBody>
          <a:bodyPr/>
          <a:lstStyle/>
          <a:p>
            <a:fld id="{E43D2CFD-DD55-47F9-A76C-A9E7CFBA33B9}" type="datetimeFigureOut">
              <a:rPr lang="en-GB" smtClean="0"/>
              <a:t>02/02/2026</a:t>
            </a:fld>
            <a:endParaRPr lang="en-GB"/>
          </a:p>
        </p:txBody>
      </p:sp>
      <p:sp>
        <p:nvSpPr>
          <p:cNvPr id="6" name="Footer Placeholder 5">
            <a:extLst>
              <a:ext uri="{FF2B5EF4-FFF2-40B4-BE49-F238E27FC236}">
                <a16:creationId xmlns:a16="http://schemas.microsoft.com/office/drawing/2014/main" id="{BAD627F5-D495-E112-9D3E-8B64EB64C0F4}"/>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06900C45-28D0-7DFA-E925-B1F82B8C11BC}"/>
              </a:ext>
            </a:extLst>
          </p:cNvPr>
          <p:cNvSpPr>
            <a:spLocks noGrp="1"/>
          </p:cNvSpPr>
          <p:nvPr>
            <p:ph type="sldNum" sz="quarter" idx="12"/>
          </p:nvPr>
        </p:nvSpPr>
        <p:spPr/>
        <p:txBody>
          <a:bodyPr/>
          <a:lstStyle/>
          <a:p>
            <a:fld id="{9C56FA8A-BDFA-4FD3-853D-2D09D98810B0}" type="slidenum">
              <a:rPr lang="en-GB" smtClean="0"/>
              <a:t>‹#›</a:t>
            </a:fld>
            <a:endParaRPr lang="en-GB"/>
          </a:p>
        </p:txBody>
      </p:sp>
    </p:spTree>
    <p:extLst>
      <p:ext uri="{BB962C8B-B14F-4D97-AF65-F5344CB8AC3E}">
        <p14:creationId xmlns:p14="http://schemas.microsoft.com/office/powerpoint/2010/main" val="250226375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C975FB-394B-E6D8-6449-686558801251}"/>
              </a:ext>
            </a:extLst>
          </p:cNvPr>
          <p:cNvSpPr>
            <a:spLocks noGrp="1"/>
          </p:cNvSpPr>
          <p:nvPr>
            <p:ph type="title"/>
          </p:nvPr>
        </p:nvSpPr>
        <p:spPr>
          <a:xfrm>
            <a:off x="839788" y="365125"/>
            <a:ext cx="10515600" cy="1325563"/>
          </a:xfrm>
        </p:spPr>
        <p:txBody>
          <a:bodyPr/>
          <a:lstStyle/>
          <a:p>
            <a:r>
              <a:rPr lang="en-GB"/>
              <a:t>Click to edit Master title style</a:t>
            </a:r>
          </a:p>
        </p:txBody>
      </p:sp>
      <p:sp>
        <p:nvSpPr>
          <p:cNvPr id="3" name="Text Placeholder 2">
            <a:extLst>
              <a:ext uri="{FF2B5EF4-FFF2-40B4-BE49-F238E27FC236}">
                <a16:creationId xmlns:a16="http://schemas.microsoft.com/office/drawing/2014/main" id="{8FBF2FCD-BB6A-E906-A158-9525BDA2C9A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D8CF1D33-E0CF-BE68-BF77-5D0F7AA1F11A}"/>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5" name="Text Placeholder 4">
            <a:extLst>
              <a:ext uri="{FF2B5EF4-FFF2-40B4-BE49-F238E27FC236}">
                <a16:creationId xmlns:a16="http://schemas.microsoft.com/office/drawing/2014/main" id="{6F810344-1878-2547-5838-3A471834CCE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027FE179-6D25-8E94-FD2D-4E1192E93FCB}"/>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7" name="Date Placeholder 6">
            <a:extLst>
              <a:ext uri="{FF2B5EF4-FFF2-40B4-BE49-F238E27FC236}">
                <a16:creationId xmlns:a16="http://schemas.microsoft.com/office/drawing/2014/main" id="{2443193E-677B-322E-9CAB-754184DCAD7D}"/>
              </a:ext>
            </a:extLst>
          </p:cNvPr>
          <p:cNvSpPr>
            <a:spLocks noGrp="1"/>
          </p:cNvSpPr>
          <p:nvPr>
            <p:ph type="dt" sz="half" idx="10"/>
          </p:nvPr>
        </p:nvSpPr>
        <p:spPr/>
        <p:txBody>
          <a:bodyPr/>
          <a:lstStyle/>
          <a:p>
            <a:fld id="{E43D2CFD-DD55-47F9-A76C-A9E7CFBA33B9}" type="datetimeFigureOut">
              <a:rPr lang="en-GB" smtClean="0"/>
              <a:t>02/02/2026</a:t>
            </a:fld>
            <a:endParaRPr lang="en-GB"/>
          </a:p>
        </p:txBody>
      </p:sp>
      <p:sp>
        <p:nvSpPr>
          <p:cNvPr id="8" name="Footer Placeholder 7">
            <a:extLst>
              <a:ext uri="{FF2B5EF4-FFF2-40B4-BE49-F238E27FC236}">
                <a16:creationId xmlns:a16="http://schemas.microsoft.com/office/drawing/2014/main" id="{87BDFD81-9721-37A4-28ED-5DBECF22AE58}"/>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9A887C2D-07C7-6329-5BFD-DE6198427E64}"/>
              </a:ext>
            </a:extLst>
          </p:cNvPr>
          <p:cNvSpPr>
            <a:spLocks noGrp="1"/>
          </p:cNvSpPr>
          <p:nvPr>
            <p:ph type="sldNum" sz="quarter" idx="12"/>
          </p:nvPr>
        </p:nvSpPr>
        <p:spPr/>
        <p:txBody>
          <a:bodyPr/>
          <a:lstStyle/>
          <a:p>
            <a:fld id="{9C56FA8A-BDFA-4FD3-853D-2D09D98810B0}" type="slidenum">
              <a:rPr lang="en-GB" smtClean="0"/>
              <a:t>‹#›</a:t>
            </a:fld>
            <a:endParaRPr lang="en-GB"/>
          </a:p>
        </p:txBody>
      </p:sp>
    </p:spTree>
    <p:extLst>
      <p:ext uri="{BB962C8B-B14F-4D97-AF65-F5344CB8AC3E}">
        <p14:creationId xmlns:p14="http://schemas.microsoft.com/office/powerpoint/2010/main" val="313057849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B68A62-F4CA-1C47-31A9-0A8739FBAF9E}"/>
              </a:ext>
            </a:extLst>
          </p:cNvPr>
          <p:cNvSpPr>
            <a:spLocks noGrp="1"/>
          </p:cNvSpPr>
          <p:nvPr>
            <p:ph type="title"/>
          </p:nvPr>
        </p:nvSpPr>
        <p:spPr/>
        <p:txBody>
          <a:bodyPr/>
          <a:lstStyle/>
          <a:p>
            <a:r>
              <a:rPr lang="en-GB"/>
              <a:t>Click to edit Master title style</a:t>
            </a:r>
          </a:p>
        </p:txBody>
      </p:sp>
      <p:sp>
        <p:nvSpPr>
          <p:cNvPr id="3" name="Date Placeholder 2">
            <a:extLst>
              <a:ext uri="{FF2B5EF4-FFF2-40B4-BE49-F238E27FC236}">
                <a16:creationId xmlns:a16="http://schemas.microsoft.com/office/drawing/2014/main" id="{E82DE1D8-5E98-CCFD-503A-28E412DEE5D6}"/>
              </a:ext>
            </a:extLst>
          </p:cNvPr>
          <p:cNvSpPr>
            <a:spLocks noGrp="1"/>
          </p:cNvSpPr>
          <p:nvPr>
            <p:ph type="dt" sz="half" idx="10"/>
          </p:nvPr>
        </p:nvSpPr>
        <p:spPr/>
        <p:txBody>
          <a:bodyPr/>
          <a:lstStyle/>
          <a:p>
            <a:fld id="{E43D2CFD-DD55-47F9-A76C-A9E7CFBA33B9}" type="datetimeFigureOut">
              <a:rPr lang="en-GB" smtClean="0"/>
              <a:t>02/02/2026</a:t>
            </a:fld>
            <a:endParaRPr lang="en-GB"/>
          </a:p>
        </p:txBody>
      </p:sp>
      <p:sp>
        <p:nvSpPr>
          <p:cNvPr id="4" name="Footer Placeholder 3">
            <a:extLst>
              <a:ext uri="{FF2B5EF4-FFF2-40B4-BE49-F238E27FC236}">
                <a16:creationId xmlns:a16="http://schemas.microsoft.com/office/drawing/2014/main" id="{BACCB87B-5E40-680C-A06B-E48D26F068B5}"/>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27B70980-6BA5-6155-2C13-1ADA8CA0C67F}"/>
              </a:ext>
            </a:extLst>
          </p:cNvPr>
          <p:cNvSpPr>
            <a:spLocks noGrp="1"/>
          </p:cNvSpPr>
          <p:nvPr>
            <p:ph type="sldNum" sz="quarter" idx="12"/>
          </p:nvPr>
        </p:nvSpPr>
        <p:spPr/>
        <p:txBody>
          <a:bodyPr/>
          <a:lstStyle/>
          <a:p>
            <a:fld id="{9C56FA8A-BDFA-4FD3-853D-2D09D98810B0}" type="slidenum">
              <a:rPr lang="en-GB" smtClean="0"/>
              <a:t>‹#›</a:t>
            </a:fld>
            <a:endParaRPr lang="en-GB"/>
          </a:p>
        </p:txBody>
      </p:sp>
    </p:spTree>
    <p:extLst>
      <p:ext uri="{BB962C8B-B14F-4D97-AF65-F5344CB8AC3E}">
        <p14:creationId xmlns:p14="http://schemas.microsoft.com/office/powerpoint/2010/main" val="278578025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DB3072D-5E01-7D00-C056-D5E73E337850}"/>
              </a:ext>
            </a:extLst>
          </p:cNvPr>
          <p:cNvSpPr>
            <a:spLocks noGrp="1"/>
          </p:cNvSpPr>
          <p:nvPr>
            <p:ph type="dt" sz="half" idx="10"/>
          </p:nvPr>
        </p:nvSpPr>
        <p:spPr/>
        <p:txBody>
          <a:bodyPr/>
          <a:lstStyle/>
          <a:p>
            <a:fld id="{E43D2CFD-DD55-47F9-A76C-A9E7CFBA33B9}" type="datetimeFigureOut">
              <a:rPr lang="en-GB" smtClean="0"/>
              <a:t>02/02/2026</a:t>
            </a:fld>
            <a:endParaRPr lang="en-GB"/>
          </a:p>
        </p:txBody>
      </p:sp>
      <p:sp>
        <p:nvSpPr>
          <p:cNvPr id="3" name="Footer Placeholder 2">
            <a:extLst>
              <a:ext uri="{FF2B5EF4-FFF2-40B4-BE49-F238E27FC236}">
                <a16:creationId xmlns:a16="http://schemas.microsoft.com/office/drawing/2014/main" id="{540CC302-8B2D-BC06-062F-91A5149AEA33}"/>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8D92D7D8-9FD2-D96B-C75B-919322E27DCF}"/>
              </a:ext>
            </a:extLst>
          </p:cNvPr>
          <p:cNvSpPr>
            <a:spLocks noGrp="1"/>
          </p:cNvSpPr>
          <p:nvPr>
            <p:ph type="sldNum" sz="quarter" idx="12"/>
          </p:nvPr>
        </p:nvSpPr>
        <p:spPr/>
        <p:txBody>
          <a:bodyPr/>
          <a:lstStyle/>
          <a:p>
            <a:fld id="{9C56FA8A-BDFA-4FD3-853D-2D09D98810B0}" type="slidenum">
              <a:rPr lang="en-GB" smtClean="0"/>
              <a:t>‹#›</a:t>
            </a:fld>
            <a:endParaRPr lang="en-GB"/>
          </a:p>
        </p:txBody>
      </p:sp>
    </p:spTree>
    <p:extLst>
      <p:ext uri="{BB962C8B-B14F-4D97-AF65-F5344CB8AC3E}">
        <p14:creationId xmlns:p14="http://schemas.microsoft.com/office/powerpoint/2010/main" val="181265565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302EB7-B38A-E3AA-9A5D-D7CC883AE743}"/>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p>
        </p:txBody>
      </p:sp>
      <p:sp>
        <p:nvSpPr>
          <p:cNvPr id="3" name="Content Placeholder 2">
            <a:extLst>
              <a:ext uri="{FF2B5EF4-FFF2-40B4-BE49-F238E27FC236}">
                <a16:creationId xmlns:a16="http://schemas.microsoft.com/office/drawing/2014/main" id="{B7AEAE42-8253-CB7B-CA47-8BF1AB65095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Text Placeholder 3">
            <a:extLst>
              <a:ext uri="{FF2B5EF4-FFF2-40B4-BE49-F238E27FC236}">
                <a16:creationId xmlns:a16="http://schemas.microsoft.com/office/drawing/2014/main" id="{25F116E5-DEC0-095F-A22F-575B543A82C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DC895234-4116-B78A-F4F3-8A540CE523B2}"/>
              </a:ext>
            </a:extLst>
          </p:cNvPr>
          <p:cNvSpPr>
            <a:spLocks noGrp="1"/>
          </p:cNvSpPr>
          <p:nvPr>
            <p:ph type="dt" sz="half" idx="10"/>
          </p:nvPr>
        </p:nvSpPr>
        <p:spPr/>
        <p:txBody>
          <a:bodyPr/>
          <a:lstStyle/>
          <a:p>
            <a:fld id="{E43D2CFD-DD55-47F9-A76C-A9E7CFBA33B9}" type="datetimeFigureOut">
              <a:rPr lang="en-GB" smtClean="0"/>
              <a:t>02/02/2026</a:t>
            </a:fld>
            <a:endParaRPr lang="en-GB"/>
          </a:p>
        </p:txBody>
      </p:sp>
      <p:sp>
        <p:nvSpPr>
          <p:cNvPr id="6" name="Footer Placeholder 5">
            <a:extLst>
              <a:ext uri="{FF2B5EF4-FFF2-40B4-BE49-F238E27FC236}">
                <a16:creationId xmlns:a16="http://schemas.microsoft.com/office/drawing/2014/main" id="{F0DDFCE0-ECC8-B2A1-5B4F-3096B7943788}"/>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87400E45-F19A-D282-BD77-EDB04D2E6924}"/>
              </a:ext>
            </a:extLst>
          </p:cNvPr>
          <p:cNvSpPr>
            <a:spLocks noGrp="1"/>
          </p:cNvSpPr>
          <p:nvPr>
            <p:ph type="sldNum" sz="quarter" idx="12"/>
          </p:nvPr>
        </p:nvSpPr>
        <p:spPr/>
        <p:txBody>
          <a:bodyPr/>
          <a:lstStyle/>
          <a:p>
            <a:fld id="{9C56FA8A-BDFA-4FD3-853D-2D09D98810B0}" type="slidenum">
              <a:rPr lang="en-GB" smtClean="0"/>
              <a:t>‹#›</a:t>
            </a:fld>
            <a:endParaRPr lang="en-GB"/>
          </a:p>
        </p:txBody>
      </p:sp>
    </p:spTree>
    <p:extLst>
      <p:ext uri="{BB962C8B-B14F-4D97-AF65-F5344CB8AC3E}">
        <p14:creationId xmlns:p14="http://schemas.microsoft.com/office/powerpoint/2010/main" val="201479804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824D91-C19E-344D-2F60-73C5F3D93E95}"/>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p>
        </p:txBody>
      </p:sp>
      <p:sp>
        <p:nvSpPr>
          <p:cNvPr id="3" name="Picture Placeholder 2">
            <a:extLst>
              <a:ext uri="{FF2B5EF4-FFF2-40B4-BE49-F238E27FC236}">
                <a16:creationId xmlns:a16="http://schemas.microsoft.com/office/drawing/2014/main" id="{CB520A29-4603-4407-4975-D200ED420E3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64653F8A-F4C2-3C44-239D-0C6B876915E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D7A3D47B-5D25-9E4B-CD87-D598C963B4EF}"/>
              </a:ext>
            </a:extLst>
          </p:cNvPr>
          <p:cNvSpPr>
            <a:spLocks noGrp="1"/>
          </p:cNvSpPr>
          <p:nvPr>
            <p:ph type="dt" sz="half" idx="10"/>
          </p:nvPr>
        </p:nvSpPr>
        <p:spPr/>
        <p:txBody>
          <a:bodyPr/>
          <a:lstStyle/>
          <a:p>
            <a:fld id="{E43D2CFD-DD55-47F9-A76C-A9E7CFBA33B9}" type="datetimeFigureOut">
              <a:rPr lang="en-GB" smtClean="0"/>
              <a:t>02/02/2026</a:t>
            </a:fld>
            <a:endParaRPr lang="en-GB"/>
          </a:p>
        </p:txBody>
      </p:sp>
      <p:sp>
        <p:nvSpPr>
          <p:cNvPr id="6" name="Footer Placeholder 5">
            <a:extLst>
              <a:ext uri="{FF2B5EF4-FFF2-40B4-BE49-F238E27FC236}">
                <a16:creationId xmlns:a16="http://schemas.microsoft.com/office/drawing/2014/main" id="{47D1EB7D-8394-C9CD-4001-9959268AC705}"/>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3BB87B5B-E558-C1F5-F9E7-6E1649F43FE3}"/>
              </a:ext>
            </a:extLst>
          </p:cNvPr>
          <p:cNvSpPr>
            <a:spLocks noGrp="1"/>
          </p:cNvSpPr>
          <p:nvPr>
            <p:ph type="sldNum" sz="quarter" idx="12"/>
          </p:nvPr>
        </p:nvSpPr>
        <p:spPr/>
        <p:txBody>
          <a:bodyPr/>
          <a:lstStyle/>
          <a:p>
            <a:fld id="{9C56FA8A-BDFA-4FD3-853D-2D09D98810B0}" type="slidenum">
              <a:rPr lang="en-GB" smtClean="0"/>
              <a:t>‹#›</a:t>
            </a:fld>
            <a:endParaRPr lang="en-GB"/>
          </a:p>
        </p:txBody>
      </p:sp>
    </p:spTree>
    <p:extLst>
      <p:ext uri="{BB962C8B-B14F-4D97-AF65-F5344CB8AC3E}">
        <p14:creationId xmlns:p14="http://schemas.microsoft.com/office/powerpoint/2010/main" val="11186393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40094D-0890-9070-B520-DEB2F4EA0BF6}"/>
              </a:ext>
            </a:extLst>
          </p:cNvPr>
          <p:cNvSpPr>
            <a:spLocks noGrp="1"/>
          </p:cNvSpPr>
          <p:nvPr>
            <p:ph type="title"/>
          </p:nvPr>
        </p:nvSpPr>
        <p:spPr/>
        <p:txBody>
          <a:bodyPr/>
          <a:lstStyle/>
          <a:p>
            <a:r>
              <a:rPr lang="en-GB"/>
              <a:t>Click to edit Master title style</a:t>
            </a:r>
          </a:p>
        </p:txBody>
      </p:sp>
      <p:sp>
        <p:nvSpPr>
          <p:cNvPr id="3" name="Vertical Text Placeholder 2">
            <a:extLst>
              <a:ext uri="{FF2B5EF4-FFF2-40B4-BE49-F238E27FC236}">
                <a16:creationId xmlns:a16="http://schemas.microsoft.com/office/drawing/2014/main" id="{DBF749FF-5DD8-8618-F29C-77BE97DD133E}"/>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3387B2CD-3B6A-B723-A01D-C95F0FB7F7A8}"/>
              </a:ext>
            </a:extLst>
          </p:cNvPr>
          <p:cNvSpPr>
            <a:spLocks noGrp="1"/>
          </p:cNvSpPr>
          <p:nvPr>
            <p:ph type="dt" sz="half" idx="10"/>
          </p:nvPr>
        </p:nvSpPr>
        <p:spPr/>
        <p:txBody>
          <a:bodyPr/>
          <a:lstStyle/>
          <a:p>
            <a:fld id="{E43D2CFD-DD55-47F9-A76C-A9E7CFBA33B9}" type="datetimeFigureOut">
              <a:rPr lang="en-GB" smtClean="0"/>
              <a:t>02/02/2026</a:t>
            </a:fld>
            <a:endParaRPr lang="en-GB"/>
          </a:p>
        </p:txBody>
      </p:sp>
      <p:sp>
        <p:nvSpPr>
          <p:cNvPr id="5" name="Footer Placeholder 4">
            <a:extLst>
              <a:ext uri="{FF2B5EF4-FFF2-40B4-BE49-F238E27FC236}">
                <a16:creationId xmlns:a16="http://schemas.microsoft.com/office/drawing/2014/main" id="{A48E13A5-CDB4-3D2D-EAB7-3D2F9EE6ABCA}"/>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CD264232-0758-93A0-67C3-49D508BDE7E4}"/>
              </a:ext>
            </a:extLst>
          </p:cNvPr>
          <p:cNvSpPr>
            <a:spLocks noGrp="1"/>
          </p:cNvSpPr>
          <p:nvPr>
            <p:ph type="sldNum" sz="quarter" idx="12"/>
          </p:nvPr>
        </p:nvSpPr>
        <p:spPr/>
        <p:txBody>
          <a:bodyPr/>
          <a:lstStyle/>
          <a:p>
            <a:fld id="{9C56FA8A-BDFA-4FD3-853D-2D09D98810B0}" type="slidenum">
              <a:rPr lang="en-GB" smtClean="0"/>
              <a:t>‹#›</a:t>
            </a:fld>
            <a:endParaRPr lang="en-GB"/>
          </a:p>
        </p:txBody>
      </p:sp>
    </p:spTree>
    <p:extLst>
      <p:ext uri="{BB962C8B-B14F-4D97-AF65-F5344CB8AC3E}">
        <p14:creationId xmlns:p14="http://schemas.microsoft.com/office/powerpoint/2010/main" val="86480047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F3D4C9F-A780-59EC-4418-55D4438CD98E}"/>
              </a:ext>
            </a:extLst>
          </p:cNvPr>
          <p:cNvSpPr>
            <a:spLocks noGrp="1"/>
          </p:cNvSpPr>
          <p:nvPr>
            <p:ph type="title" orient="vert"/>
          </p:nvPr>
        </p:nvSpPr>
        <p:spPr>
          <a:xfrm>
            <a:off x="8724900" y="365125"/>
            <a:ext cx="2628900" cy="5811838"/>
          </a:xfrm>
        </p:spPr>
        <p:txBody>
          <a:bodyPr vert="eaVert"/>
          <a:lstStyle/>
          <a:p>
            <a:r>
              <a:rPr lang="en-GB"/>
              <a:t>Click to edit Master title style</a:t>
            </a:r>
          </a:p>
        </p:txBody>
      </p:sp>
      <p:sp>
        <p:nvSpPr>
          <p:cNvPr id="3" name="Vertical Text Placeholder 2">
            <a:extLst>
              <a:ext uri="{FF2B5EF4-FFF2-40B4-BE49-F238E27FC236}">
                <a16:creationId xmlns:a16="http://schemas.microsoft.com/office/drawing/2014/main" id="{B69F4EF0-7CE5-83F2-8DBB-F64C2468CE5D}"/>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D4F10673-CF3D-6000-39D8-0E4ED873FDC2}"/>
              </a:ext>
            </a:extLst>
          </p:cNvPr>
          <p:cNvSpPr>
            <a:spLocks noGrp="1"/>
          </p:cNvSpPr>
          <p:nvPr>
            <p:ph type="dt" sz="half" idx="10"/>
          </p:nvPr>
        </p:nvSpPr>
        <p:spPr/>
        <p:txBody>
          <a:bodyPr/>
          <a:lstStyle/>
          <a:p>
            <a:fld id="{E43D2CFD-DD55-47F9-A76C-A9E7CFBA33B9}" type="datetimeFigureOut">
              <a:rPr lang="en-GB" smtClean="0"/>
              <a:t>02/02/2026</a:t>
            </a:fld>
            <a:endParaRPr lang="en-GB"/>
          </a:p>
        </p:txBody>
      </p:sp>
      <p:sp>
        <p:nvSpPr>
          <p:cNvPr id="5" name="Footer Placeholder 4">
            <a:extLst>
              <a:ext uri="{FF2B5EF4-FFF2-40B4-BE49-F238E27FC236}">
                <a16:creationId xmlns:a16="http://schemas.microsoft.com/office/drawing/2014/main" id="{62919268-BF90-3273-2E28-075E15EF3775}"/>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D6A13654-29CD-6159-AB36-21EF19D6FCDA}"/>
              </a:ext>
            </a:extLst>
          </p:cNvPr>
          <p:cNvSpPr>
            <a:spLocks noGrp="1"/>
          </p:cNvSpPr>
          <p:nvPr>
            <p:ph type="sldNum" sz="quarter" idx="12"/>
          </p:nvPr>
        </p:nvSpPr>
        <p:spPr/>
        <p:txBody>
          <a:bodyPr/>
          <a:lstStyle/>
          <a:p>
            <a:fld id="{9C56FA8A-BDFA-4FD3-853D-2D09D98810B0}" type="slidenum">
              <a:rPr lang="en-GB" smtClean="0"/>
              <a:t>‹#›</a:t>
            </a:fld>
            <a:endParaRPr lang="en-GB"/>
          </a:p>
        </p:txBody>
      </p:sp>
    </p:spTree>
    <p:extLst>
      <p:ext uri="{BB962C8B-B14F-4D97-AF65-F5344CB8AC3E}">
        <p14:creationId xmlns:p14="http://schemas.microsoft.com/office/powerpoint/2010/main" val="23901084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24C6DAF-05E7-5CE2-7585-F4C0156DC82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p>
        </p:txBody>
      </p:sp>
      <p:sp>
        <p:nvSpPr>
          <p:cNvPr id="3" name="Text Placeholder 2">
            <a:extLst>
              <a:ext uri="{FF2B5EF4-FFF2-40B4-BE49-F238E27FC236}">
                <a16:creationId xmlns:a16="http://schemas.microsoft.com/office/drawing/2014/main" id="{10761B16-51B6-4DF5-1A63-15B906930B7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620AE3DF-AD4E-5158-B36B-B06F5679D77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E43D2CFD-DD55-47F9-A76C-A9E7CFBA33B9}" type="datetimeFigureOut">
              <a:rPr lang="en-GB" smtClean="0"/>
              <a:t>02/02/2026</a:t>
            </a:fld>
            <a:endParaRPr lang="en-GB"/>
          </a:p>
        </p:txBody>
      </p:sp>
      <p:sp>
        <p:nvSpPr>
          <p:cNvPr id="5" name="Footer Placeholder 4">
            <a:extLst>
              <a:ext uri="{FF2B5EF4-FFF2-40B4-BE49-F238E27FC236}">
                <a16:creationId xmlns:a16="http://schemas.microsoft.com/office/drawing/2014/main" id="{298BF771-633D-6E46-60E0-660464C4B59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GB"/>
          </a:p>
        </p:txBody>
      </p:sp>
      <p:sp>
        <p:nvSpPr>
          <p:cNvPr id="6" name="Slide Number Placeholder 5">
            <a:extLst>
              <a:ext uri="{FF2B5EF4-FFF2-40B4-BE49-F238E27FC236}">
                <a16:creationId xmlns:a16="http://schemas.microsoft.com/office/drawing/2014/main" id="{AF3F9C37-6029-F4CE-8903-0AAAE0416A4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9C56FA8A-BDFA-4FD3-853D-2D09D98810B0}" type="slidenum">
              <a:rPr lang="en-GB" smtClean="0"/>
              <a:t>‹#›</a:t>
            </a:fld>
            <a:endParaRPr lang="en-GB"/>
          </a:p>
        </p:txBody>
      </p:sp>
    </p:spTree>
    <p:extLst>
      <p:ext uri="{BB962C8B-B14F-4D97-AF65-F5344CB8AC3E}">
        <p14:creationId xmlns:p14="http://schemas.microsoft.com/office/powerpoint/2010/main" val="203562103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8" Type="http://schemas.openxmlformats.org/officeDocument/2006/relationships/image" Target="../media/image8.JPG"/><Relationship Id="rId3" Type="http://schemas.openxmlformats.org/officeDocument/2006/relationships/image" Target="../media/image3.JPG"/><Relationship Id="rId7" Type="http://schemas.openxmlformats.org/officeDocument/2006/relationships/image" Target="../media/image7.JP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6.JPG"/><Relationship Id="rId5" Type="http://schemas.openxmlformats.org/officeDocument/2006/relationships/image" Target="../media/image5.JPG"/><Relationship Id="rId10" Type="http://schemas.openxmlformats.org/officeDocument/2006/relationships/image" Target="../media/image10.JPG"/><Relationship Id="rId4" Type="http://schemas.openxmlformats.org/officeDocument/2006/relationships/image" Target="../media/image4.JPG"/><Relationship Id="rId9" Type="http://schemas.openxmlformats.org/officeDocument/2006/relationships/image" Target="../media/image9.JPG"/></Relationships>
</file>

<file path=ppt/slides/_rels/slide5.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12.JPG"/></Relationships>
</file>

<file path=ppt/slides/_rels/slide6.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14.JPG"/></Relationships>
</file>

<file path=ppt/slides/_rels/slide7.xml.rels><?xml version="1.0" encoding="UTF-8" standalone="yes"?>
<Relationships xmlns="http://schemas.openxmlformats.org/package/2006/relationships"><Relationship Id="rId3" Type="http://schemas.openxmlformats.org/officeDocument/2006/relationships/image" Target="../media/image15.JP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16.JPG"/></Relationships>
</file>

<file path=ppt/slides/_rels/slide8.xml.rels><?xml version="1.0" encoding="UTF-8" standalone="yes"?>
<Relationships xmlns="http://schemas.openxmlformats.org/package/2006/relationships"><Relationship Id="rId3" Type="http://schemas.openxmlformats.org/officeDocument/2006/relationships/image" Target="../media/image17.JP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18.JPG"/></Relationships>
</file>

<file path=ppt/slides/_rels/slide9.xml.rels><?xml version="1.0" encoding="UTF-8" standalone="yes"?>
<Relationships xmlns="http://schemas.openxmlformats.org/package/2006/relationships"><Relationship Id="rId3" Type="http://schemas.openxmlformats.org/officeDocument/2006/relationships/image" Target="../media/image19.JP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20.JPG"/></Relationships>
</file>

<file path=ppt/slides/_rels/slide10.xml.rels><?xml version="1.0" encoding="UTF-8" standalone="yes"?>
<Relationships xmlns="http://schemas.openxmlformats.org/package/2006/relationships"><Relationship Id="rId3" Type="http://schemas.openxmlformats.org/officeDocument/2006/relationships/image" Target="../media/image21.JP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22.JPG"/></Relationships>
</file>

<file path=ppt/slides/_rels/slide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23.JP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24.JP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logo with a cross and text">
            <a:extLst>
              <a:ext uri="{FF2B5EF4-FFF2-40B4-BE49-F238E27FC236}">
                <a16:creationId xmlns:a16="http://schemas.microsoft.com/office/drawing/2014/main" id="{8C98EB8D-97A1-B3D8-8A46-8E7F63F909D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4" name="TextBox 3">
            <a:extLst>
              <a:ext uri="{FF2B5EF4-FFF2-40B4-BE49-F238E27FC236}">
                <a16:creationId xmlns:a16="http://schemas.microsoft.com/office/drawing/2014/main" id="{35406BF5-9240-1433-3F6D-5A6CF1F3BA6C}"/>
              </a:ext>
            </a:extLst>
          </p:cNvPr>
          <p:cNvSpPr txBox="1"/>
          <p:nvPr/>
        </p:nvSpPr>
        <p:spPr>
          <a:xfrm>
            <a:off x="7928386" y="5396289"/>
            <a:ext cx="4077148" cy="369332"/>
          </a:xfrm>
          <a:prstGeom prst="rect">
            <a:avLst/>
          </a:prstGeom>
          <a:noFill/>
        </p:spPr>
        <p:txBody>
          <a:bodyPr wrap="square" rtlCol="0">
            <a:spAutoFit/>
          </a:bodyPr>
          <a:lstStyle/>
          <a:p>
            <a:r>
              <a:rPr lang="en-GB" b="1" dirty="0">
                <a:solidFill>
                  <a:srgbClr val="095147"/>
                </a:solidFill>
              </a:rPr>
              <a:t>Presentation by Emmanuel Daramola</a:t>
            </a:r>
          </a:p>
        </p:txBody>
      </p:sp>
      <p:sp>
        <p:nvSpPr>
          <p:cNvPr id="5" name="TextBox 4">
            <a:extLst>
              <a:ext uri="{FF2B5EF4-FFF2-40B4-BE49-F238E27FC236}">
                <a16:creationId xmlns:a16="http://schemas.microsoft.com/office/drawing/2014/main" id="{EACA0901-B91D-F4CA-2F59-CC57D99AB0BA}"/>
              </a:ext>
            </a:extLst>
          </p:cNvPr>
          <p:cNvSpPr txBox="1"/>
          <p:nvPr/>
        </p:nvSpPr>
        <p:spPr>
          <a:xfrm>
            <a:off x="484095" y="4980791"/>
            <a:ext cx="6142616" cy="1569660"/>
          </a:xfrm>
          <a:prstGeom prst="rect">
            <a:avLst/>
          </a:prstGeom>
          <a:noFill/>
        </p:spPr>
        <p:txBody>
          <a:bodyPr wrap="square" rtlCol="0">
            <a:spAutoFit/>
          </a:bodyPr>
          <a:lstStyle/>
          <a:p>
            <a:r>
              <a:rPr lang="en-GB" sz="3200" b="1" dirty="0">
                <a:solidFill>
                  <a:srgbClr val="095147"/>
                </a:solidFill>
              </a:rPr>
              <a:t>Leveraging Social Determinants of Health (SDOH) Analytics to Address Healthcare Disparities</a:t>
            </a:r>
            <a:endParaRPr lang="en-GB" sz="3200" dirty="0">
              <a:solidFill>
                <a:srgbClr val="095147"/>
              </a:solidFill>
            </a:endParaRPr>
          </a:p>
        </p:txBody>
      </p:sp>
    </p:spTree>
    <p:extLst>
      <p:ext uri="{BB962C8B-B14F-4D97-AF65-F5344CB8AC3E}">
        <p14:creationId xmlns:p14="http://schemas.microsoft.com/office/powerpoint/2010/main" val="409991356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Water droplets on a leaf&#10;&#10;AI-generated content may be incorrect.">
            <a:extLst>
              <a:ext uri="{FF2B5EF4-FFF2-40B4-BE49-F238E27FC236}">
                <a16:creationId xmlns:a16="http://schemas.microsoft.com/office/drawing/2014/main" id="{43F0E896-428A-D656-D3C2-609E609198CD}"/>
              </a:ext>
            </a:extLst>
          </p:cNvPr>
          <p:cNvPicPr>
            <a:picLocks noChangeAspect="1"/>
          </p:cNvPicPr>
          <p:nvPr/>
        </p:nvPicPr>
        <p:blipFill>
          <a:blip r:embed="rId2">
            <a:alphaModFix/>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0" name="Oval 9">
            <a:extLst>
              <a:ext uri="{FF2B5EF4-FFF2-40B4-BE49-F238E27FC236}">
                <a16:creationId xmlns:a16="http://schemas.microsoft.com/office/drawing/2014/main" id="{48FF3705-5C1B-2CD8-AAD3-4658F945FD4E}"/>
              </a:ext>
            </a:extLst>
          </p:cNvPr>
          <p:cNvSpPr/>
          <p:nvPr/>
        </p:nvSpPr>
        <p:spPr>
          <a:xfrm>
            <a:off x="4249271" y="2199940"/>
            <a:ext cx="3302598" cy="2355925"/>
          </a:xfrm>
          <a:prstGeom prst="ellipse">
            <a:avLst/>
          </a:prstGeom>
          <a:solidFill>
            <a:srgbClr val="98B5AF"/>
          </a:solidFill>
          <a:ln>
            <a:noFill/>
          </a:ln>
          <a:effectLst>
            <a:innerShdw blurRad="63500" dist="50800" dir="2700000">
              <a:prstClr val="black">
                <a:alpha val="50000"/>
              </a:prstClr>
            </a:inn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 name="TextBox 10">
            <a:extLst>
              <a:ext uri="{FF2B5EF4-FFF2-40B4-BE49-F238E27FC236}">
                <a16:creationId xmlns:a16="http://schemas.microsoft.com/office/drawing/2014/main" id="{17A9BB50-4148-9F45-8F79-6562A0B15289}"/>
              </a:ext>
            </a:extLst>
          </p:cNvPr>
          <p:cNvSpPr txBox="1"/>
          <p:nvPr/>
        </p:nvSpPr>
        <p:spPr>
          <a:xfrm>
            <a:off x="4769225" y="2655842"/>
            <a:ext cx="2424789" cy="1384995"/>
          </a:xfrm>
          <a:prstGeom prst="rect">
            <a:avLst/>
          </a:prstGeom>
          <a:noFill/>
        </p:spPr>
        <p:txBody>
          <a:bodyPr wrap="square" rtlCol="0">
            <a:spAutoFit/>
          </a:bodyPr>
          <a:lstStyle/>
          <a:p>
            <a:r>
              <a:rPr lang="en-GB" sz="2800" b="1" dirty="0">
                <a:solidFill>
                  <a:schemeClr val="bg1"/>
                </a:solidFill>
              </a:rPr>
              <a:t>BUSINESS SCOPE &amp; CHALLENGES</a:t>
            </a:r>
            <a:endParaRPr lang="en-GB" dirty="0">
              <a:solidFill>
                <a:schemeClr val="bg1"/>
              </a:solidFill>
            </a:endParaRPr>
          </a:p>
        </p:txBody>
      </p:sp>
      <p:sp>
        <p:nvSpPr>
          <p:cNvPr id="12" name="Rectangle: Rounded Corners 11">
            <a:extLst>
              <a:ext uri="{FF2B5EF4-FFF2-40B4-BE49-F238E27FC236}">
                <a16:creationId xmlns:a16="http://schemas.microsoft.com/office/drawing/2014/main" id="{81701868-63D1-5C77-5450-ADF7EF0EED39}"/>
              </a:ext>
            </a:extLst>
          </p:cNvPr>
          <p:cNvSpPr/>
          <p:nvPr/>
        </p:nvSpPr>
        <p:spPr>
          <a:xfrm>
            <a:off x="86061" y="324932"/>
            <a:ext cx="4324574" cy="1977204"/>
          </a:xfrm>
          <a:prstGeom prst="roundRect">
            <a:avLst/>
          </a:prstGeom>
          <a:solidFill>
            <a:srgbClr val="98B5AF"/>
          </a:solidFill>
          <a:ln>
            <a:noFill/>
          </a:ln>
          <a:effectLst>
            <a:innerShdw blurRad="63500" dist="50800" dir="2700000">
              <a:prstClr val="black">
                <a:alpha val="50000"/>
              </a:prstClr>
            </a:inn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Rectangle: Rounded Corners 12">
            <a:extLst>
              <a:ext uri="{FF2B5EF4-FFF2-40B4-BE49-F238E27FC236}">
                <a16:creationId xmlns:a16="http://schemas.microsoft.com/office/drawing/2014/main" id="{594F2941-5A0B-DFA1-5DA4-19781D2ABE7F}"/>
              </a:ext>
            </a:extLst>
          </p:cNvPr>
          <p:cNvSpPr/>
          <p:nvPr/>
        </p:nvSpPr>
        <p:spPr>
          <a:xfrm>
            <a:off x="7551869" y="324932"/>
            <a:ext cx="4324573" cy="1977204"/>
          </a:xfrm>
          <a:prstGeom prst="roundRect">
            <a:avLst/>
          </a:prstGeom>
          <a:solidFill>
            <a:srgbClr val="98B5AF"/>
          </a:solidFill>
          <a:ln>
            <a:noFill/>
          </a:ln>
          <a:effectLst>
            <a:innerShdw blurRad="63500" dist="50800" dir="2700000">
              <a:prstClr val="black">
                <a:alpha val="50000"/>
              </a:prstClr>
            </a:inn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TextBox 13">
            <a:extLst>
              <a:ext uri="{FF2B5EF4-FFF2-40B4-BE49-F238E27FC236}">
                <a16:creationId xmlns:a16="http://schemas.microsoft.com/office/drawing/2014/main" id="{69098071-A844-9A51-0865-5D2A66818DCA}"/>
              </a:ext>
            </a:extLst>
          </p:cNvPr>
          <p:cNvSpPr txBox="1"/>
          <p:nvPr/>
        </p:nvSpPr>
        <p:spPr>
          <a:xfrm>
            <a:off x="247425" y="297871"/>
            <a:ext cx="4001845" cy="2031325"/>
          </a:xfrm>
          <a:prstGeom prst="rect">
            <a:avLst/>
          </a:prstGeom>
          <a:noFill/>
        </p:spPr>
        <p:txBody>
          <a:bodyPr wrap="square" rtlCol="0">
            <a:spAutoFit/>
          </a:bodyPr>
          <a:lstStyle/>
          <a:p>
            <a:pPr algn="ctr"/>
            <a:r>
              <a:rPr lang="en-GB" b="1" u="sng" dirty="0">
                <a:solidFill>
                  <a:schemeClr val="bg1"/>
                </a:solidFill>
              </a:rPr>
              <a:t>DATA FRAGMENTATION</a:t>
            </a:r>
          </a:p>
          <a:p>
            <a:r>
              <a:rPr lang="en-GB" dirty="0">
                <a:solidFill>
                  <a:schemeClr val="bg1"/>
                </a:solidFill>
              </a:rPr>
              <a:t> Accessing a thorough understanding of health disparities is challenging due to the fragmented nature of important datasets such socioeconomic determinants, health records, and demographic data.</a:t>
            </a:r>
          </a:p>
        </p:txBody>
      </p:sp>
      <p:sp>
        <p:nvSpPr>
          <p:cNvPr id="17" name="Rectangle: Rounded Corners 16">
            <a:extLst>
              <a:ext uri="{FF2B5EF4-FFF2-40B4-BE49-F238E27FC236}">
                <a16:creationId xmlns:a16="http://schemas.microsoft.com/office/drawing/2014/main" id="{4E2D869F-61BD-873A-6491-FA6D8D7CE257}"/>
              </a:ext>
            </a:extLst>
          </p:cNvPr>
          <p:cNvSpPr/>
          <p:nvPr/>
        </p:nvSpPr>
        <p:spPr>
          <a:xfrm>
            <a:off x="86060" y="4624200"/>
            <a:ext cx="4324574" cy="1977204"/>
          </a:xfrm>
          <a:prstGeom prst="roundRect">
            <a:avLst/>
          </a:prstGeom>
          <a:solidFill>
            <a:srgbClr val="98B5AF"/>
          </a:solidFill>
          <a:ln>
            <a:noFill/>
          </a:ln>
          <a:effectLst>
            <a:innerShdw blurRad="63500" dist="50800" dir="2700000">
              <a:prstClr val="black">
                <a:alpha val="50000"/>
              </a:prstClr>
            </a:inn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8" name="TextBox 17">
            <a:extLst>
              <a:ext uri="{FF2B5EF4-FFF2-40B4-BE49-F238E27FC236}">
                <a16:creationId xmlns:a16="http://schemas.microsoft.com/office/drawing/2014/main" id="{D66BBF58-3E81-3433-32C2-F001CD2A0ABB}"/>
              </a:ext>
            </a:extLst>
          </p:cNvPr>
          <p:cNvSpPr txBox="1"/>
          <p:nvPr/>
        </p:nvSpPr>
        <p:spPr>
          <a:xfrm>
            <a:off x="247424" y="4820633"/>
            <a:ext cx="4001845" cy="1477328"/>
          </a:xfrm>
          <a:prstGeom prst="rect">
            <a:avLst/>
          </a:prstGeom>
          <a:noFill/>
        </p:spPr>
        <p:txBody>
          <a:bodyPr wrap="square" rtlCol="0">
            <a:spAutoFit/>
          </a:bodyPr>
          <a:lstStyle/>
          <a:p>
            <a:pPr algn="ctr"/>
            <a:r>
              <a:rPr lang="en-GB" b="1" u="sng" dirty="0">
                <a:solidFill>
                  <a:schemeClr val="bg1"/>
                </a:solidFill>
              </a:rPr>
              <a:t>MANUAL DATA PROCESSING</a:t>
            </a:r>
            <a:endParaRPr lang="en-GB" u="sng" dirty="0">
              <a:solidFill>
                <a:schemeClr val="bg1"/>
              </a:solidFill>
            </a:endParaRPr>
          </a:p>
          <a:p>
            <a:pPr lvl="0"/>
            <a:r>
              <a:rPr lang="en-GB" dirty="0">
                <a:solidFill>
                  <a:schemeClr val="bg1"/>
                </a:solidFill>
              </a:rPr>
              <a:t>The business still uses manual data processing to get insights, which causes delays in decision-making and raises the possibility of mistakes.</a:t>
            </a:r>
          </a:p>
        </p:txBody>
      </p:sp>
      <p:sp>
        <p:nvSpPr>
          <p:cNvPr id="19" name="TextBox 18">
            <a:extLst>
              <a:ext uri="{FF2B5EF4-FFF2-40B4-BE49-F238E27FC236}">
                <a16:creationId xmlns:a16="http://schemas.microsoft.com/office/drawing/2014/main" id="{5659DE22-DA0C-3A44-7CC6-C5EC79FE1194}"/>
              </a:ext>
            </a:extLst>
          </p:cNvPr>
          <p:cNvSpPr txBox="1"/>
          <p:nvPr/>
        </p:nvSpPr>
        <p:spPr>
          <a:xfrm>
            <a:off x="7656723" y="324932"/>
            <a:ext cx="3993809" cy="1477328"/>
          </a:xfrm>
          <a:prstGeom prst="rect">
            <a:avLst/>
          </a:prstGeom>
          <a:noFill/>
        </p:spPr>
        <p:txBody>
          <a:bodyPr wrap="square" rtlCol="0">
            <a:spAutoFit/>
          </a:bodyPr>
          <a:lstStyle/>
          <a:p>
            <a:pPr algn="ctr"/>
            <a:r>
              <a:rPr lang="en-GB" b="1" u="sng" dirty="0">
                <a:solidFill>
                  <a:schemeClr val="bg1"/>
                </a:solidFill>
              </a:rPr>
              <a:t>ABSENCE OF REAL-TIME INSIGHTS</a:t>
            </a:r>
          </a:p>
          <a:p>
            <a:r>
              <a:rPr lang="en-GB" dirty="0">
                <a:solidFill>
                  <a:schemeClr val="bg1"/>
                </a:solidFill>
              </a:rPr>
              <a:t>In the absence of automated systems, responses and resource allocation are delayed due to a lag in discovering new health problems or inequities.</a:t>
            </a:r>
          </a:p>
        </p:txBody>
      </p:sp>
      <p:sp>
        <p:nvSpPr>
          <p:cNvPr id="21" name="Rectangle: Rounded Corners 20">
            <a:extLst>
              <a:ext uri="{FF2B5EF4-FFF2-40B4-BE49-F238E27FC236}">
                <a16:creationId xmlns:a16="http://schemas.microsoft.com/office/drawing/2014/main" id="{A6B4A4AF-6434-824E-A7ED-EF795EBCEC6E}"/>
              </a:ext>
            </a:extLst>
          </p:cNvPr>
          <p:cNvSpPr/>
          <p:nvPr/>
        </p:nvSpPr>
        <p:spPr>
          <a:xfrm>
            <a:off x="7620003" y="4667878"/>
            <a:ext cx="4324573" cy="1977204"/>
          </a:xfrm>
          <a:prstGeom prst="roundRect">
            <a:avLst/>
          </a:prstGeom>
          <a:solidFill>
            <a:srgbClr val="98B5AF"/>
          </a:solidFill>
          <a:ln>
            <a:noFill/>
          </a:ln>
          <a:effectLst>
            <a:innerShdw blurRad="63500" dist="50800" dir="2700000">
              <a:prstClr val="black">
                <a:alpha val="50000"/>
              </a:prstClr>
            </a:inn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2" name="TextBox 21">
            <a:extLst>
              <a:ext uri="{FF2B5EF4-FFF2-40B4-BE49-F238E27FC236}">
                <a16:creationId xmlns:a16="http://schemas.microsoft.com/office/drawing/2014/main" id="{A655D552-B26C-F6FD-6978-808046B3D3FC}"/>
              </a:ext>
            </a:extLst>
          </p:cNvPr>
          <p:cNvSpPr txBox="1"/>
          <p:nvPr/>
        </p:nvSpPr>
        <p:spPr>
          <a:xfrm>
            <a:off x="7755875" y="4820633"/>
            <a:ext cx="4021156" cy="2031325"/>
          </a:xfrm>
          <a:prstGeom prst="rect">
            <a:avLst/>
          </a:prstGeom>
          <a:noFill/>
        </p:spPr>
        <p:txBody>
          <a:bodyPr wrap="square" rtlCol="0">
            <a:spAutoFit/>
          </a:bodyPr>
          <a:lstStyle/>
          <a:p>
            <a:pPr algn="ctr"/>
            <a:r>
              <a:rPr lang="en-GB" b="1" u="sng" dirty="0">
                <a:solidFill>
                  <a:schemeClr val="bg1"/>
                </a:solidFill>
              </a:rPr>
              <a:t>GEOGRAPHICAL DATA GAPS</a:t>
            </a:r>
          </a:p>
          <a:p>
            <a:r>
              <a:rPr lang="en-GB" dirty="0">
                <a:solidFill>
                  <a:schemeClr val="bg1"/>
                </a:solidFill>
              </a:rPr>
              <a:t>Targeted interventions are hampered by the lack of precise geographical data, which makes it difficult to visualise and analyse regional healthcare disparities.</a:t>
            </a:r>
          </a:p>
          <a:p>
            <a:endParaRPr lang="en-GB" dirty="0"/>
          </a:p>
        </p:txBody>
      </p:sp>
    </p:spTree>
    <p:extLst>
      <p:ext uri="{BB962C8B-B14F-4D97-AF65-F5344CB8AC3E}">
        <p14:creationId xmlns:p14="http://schemas.microsoft.com/office/powerpoint/2010/main" val="47020179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3EA382-FDAD-8CC3-A94D-1417DF502EC2}"/>
            </a:ext>
          </a:extLst>
        </p:cNvPr>
        <p:cNvGrpSpPr/>
        <p:nvPr/>
      </p:nvGrpSpPr>
      <p:grpSpPr>
        <a:xfrm>
          <a:off x="0" y="0"/>
          <a:ext cx="0" cy="0"/>
          <a:chOff x="0" y="0"/>
          <a:chExt cx="0" cy="0"/>
        </a:xfrm>
      </p:grpSpPr>
      <p:pic>
        <p:nvPicPr>
          <p:cNvPr id="5" name="Picture 4" descr="Water droplets on a leaf&#10;&#10;AI-generated content may be incorrect.">
            <a:extLst>
              <a:ext uri="{FF2B5EF4-FFF2-40B4-BE49-F238E27FC236}">
                <a16:creationId xmlns:a16="http://schemas.microsoft.com/office/drawing/2014/main" id="{161C0270-6352-EDDB-8881-B3D1695310AE}"/>
              </a:ext>
            </a:extLst>
          </p:cNvPr>
          <p:cNvPicPr>
            <a:picLocks noChangeAspect="1"/>
          </p:cNvPicPr>
          <p:nvPr/>
        </p:nvPicPr>
        <p:blipFill>
          <a:blip r:embed="rId2">
            <a:alphaModFix/>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0" name="Oval 9">
            <a:extLst>
              <a:ext uri="{FF2B5EF4-FFF2-40B4-BE49-F238E27FC236}">
                <a16:creationId xmlns:a16="http://schemas.microsoft.com/office/drawing/2014/main" id="{0307D251-877B-4288-A056-58F95A0AEACA}"/>
              </a:ext>
            </a:extLst>
          </p:cNvPr>
          <p:cNvSpPr/>
          <p:nvPr/>
        </p:nvSpPr>
        <p:spPr>
          <a:xfrm>
            <a:off x="3809074" y="2233800"/>
            <a:ext cx="4324573" cy="2355925"/>
          </a:xfrm>
          <a:prstGeom prst="ellipse">
            <a:avLst/>
          </a:prstGeom>
          <a:solidFill>
            <a:srgbClr val="98B5AF"/>
          </a:solidFill>
          <a:ln>
            <a:noFill/>
          </a:ln>
          <a:effectLst>
            <a:innerShdw blurRad="63500" dist="50800" dir="2700000">
              <a:prstClr val="black">
                <a:alpha val="50000"/>
              </a:prstClr>
            </a:inn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 name="TextBox 10">
            <a:extLst>
              <a:ext uri="{FF2B5EF4-FFF2-40B4-BE49-F238E27FC236}">
                <a16:creationId xmlns:a16="http://schemas.microsoft.com/office/drawing/2014/main" id="{1F94C5B7-1E3B-2654-AC42-64EDACAD37F4}"/>
              </a:ext>
            </a:extLst>
          </p:cNvPr>
          <p:cNvSpPr txBox="1"/>
          <p:nvPr/>
        </p:nvSpPr>
        <p:spPr>
          <a:xfrm>
            <a:off x="4642615" y="2377431"/>
            <a:ext cx="2651069" cy="1815882"/>
          </a:xfrm>
          <a:prstGeom prst="rect">
            <a:avLst/>
          </a:prstGeom>
          <a:noFill/>
        </p:spPr>
        <p:txBody>
          <a:bodyPr wrap="square" rtlCol="0">
            <a:spAutoFit/>
          </a:bodyPr>
          <a:lstStyle/>
          <a:p>
            <a:pPr algn="ctr"/>
            <a:r>
              <a:rPr lang="en-GB" sz="2800" b="1" dirty="0">
                <a:solidFill>
                  <a:schemeClr val="bg1"/>
                </a:solidFill>
              </a:rPr>
              <a:t>PROJECT OBJECTIVES </a:t>
            </a:r>
          </a:p>
          <a:p>
            <a:pPr algn="ctr"/>
            <a:r>
              <a:rPr lang="en-GB" sz="2800" b="1" dirty="0">
                <a:solidFill>
                  <a:schemeClr val="bg1"/>
                </a:solidFill>
              </a:rPr>
              <a:t>&amp;</a:t>
            </a:r>
          </a:p>
          <a:p>
            <a:r>
              <a:rPr lang="en-GB" sz="2800" b="1" dirty="0">
                <a:solidFill>
                  <a:schemeClr val="bg1"/>
                </a:solidFill>
              </a:rPr>
              <a:t>DELIVERABLES</a:t>
            </a:r>
            <a:endParaRPr lang="en-GB" dirty="0">
              <a:solidFill>
                <a:schemeClr val="bg1"/>
              </a:solidFill>
            </a:endParaRPr>
          </a:p>
        </p:txBody>
      </p:sp>
      <p:sp>
        <p:nvSpPr>
          <p:cNvPr id="12" name="Rectangle: Rounded Corners 11">
            <a:extLst>
              <a:ext uri="{FF2B5EF4-FFF2-40B4-BE49-F238E27FC236}">
                <a16:creationId xmlns:a16="http://schemas.microsoft.com/office/drawing/2014/main" id="{8B6BD80B-4002-8ACF-01D0-5BB9741DDB78}"/>
              </a:ext>
            </a:extLst>
          </p:cNvPr>
          <p:cNvSpPr/>
          <p:nvPr/>
        </p:nvSpPr>
        <p:spPr>
          <a:xfrm>
            <a:off x="86061" y="324932"/>
            <a:ext cx="4324574" cy="1977204"/>
          </a:xfrm>
          <a:prstGeom prst="roundRect">
            <a:avLst/>
          </a:prstGeom>
          <a:solidFill>
            <a:srgbClr val="98B5AF"/>
          </a:solidFill>
          <a:ln>
            <a:noFill/>
          </a:ln>
          <a:effectLst>
            <a:innerShdw blurRad="63500" dist="50800" dir="2700000">
              <a:prstClr val="black">
                <a:alpha val="50000"/>
              </a:prstClr>
            </a:inn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Rectangle: Rounded Corners 12">
            <a:extLst>
              <a:ext uri="{FF2B5EF4-FFF2-40B4-BE49-F238E27FC236}">
                <a16:creationId xmlns:a16="http://schemas.microsoft.com/office/drawing/2014/main" id="{53A5484A-D7BE-D3FF-901C-28FA5AF1AF47}"/>
              </a:ext>
            </a:extLst>
          </p:cNvPr>
          <p:cNvSpPr/>
          <p:nvPr/>
        </p:nvSpPr>
        <p:spPr>
          <a:xfrm>
            <a:off x="7551869" y="324932"/>
            <a:ext cx="4324573" cy="1977204"/>
          </a:xfrm>
          <a:prstGeom prst="roundRect">
            <a:avLst/>
          </a:prstGeom>
          <a:solidFill>
            <a:srgbClr val="98B5AF"/>
          </a:solidFill>
          <a:ln>
            <a:noFill/>
          </a:ln>
          <a:effectLst>
            <a:innerShdw blurRad="63500" dist="50800" dir="2700000">
              <a:prstClr val="black">
                <a:alpha val="50000"/>
              </a:prstClr>
            </a:inn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TextBox 13">
            <a:extLst>
              <a:ext uri="{FF2B5EF4-FFF2-40B4-BE49-F238E27FC236}">
                <a16:creationId xmlns:a16="http://schemas.microsoft.com/office/drawing/2014/main" id="{BF3CEB16-5DF3-24F1-ABE7-B9DDA6C566E5}"/>
              </a:ext>
            </a:extLst>
          </p:cNvPr>
          <p:cNvSpPr txBox="1"/>
          <p:nvPr/>
        </p:nvSpPr>
        <p:spPr>
          <a:xfrm>
            <a:off x="247423" y="523772"/>
            <a:ext cx="4001845" cy="1477328"/>
          </a:xfrm>
          <a:prstGeom prst="rect">
            <a:avLst/>
          </a:prstGeom>
          <a:noFill/>
        </p:spPr>
        <p:txBody>
          <a:bodyPr wrap="square" rtlCol="0">
            <a:spAutoFit/>
          </a:bodyPr>
          <a:lstStyle/>
          <a:p>
            <a:pPr algn="ctr"/>
            <a:r>
              <a:rPr lang="en-GB" b="1" u="sng" dirty="0">
                <a:solidFill>
                  <a:schemeClr val="bg1"/>
                </a:solidFill>
              </a:rPr>
              <a:t>INTEGRATE SDOH DATA</a:t>
            </a:r>
          </a:p>
          <a:p>
            <a:pPr algn="ctr"/>
            <a:r>
              <a:rPr lang="en-GB" dirty="0">
                <a:solidFill>
                  <a:schemeClr val="bg1"/>
                </a:solidFill>
              </a:rPr>
              <a:t>To guarantee thorough insights into health inequalities, combine different clinical, demographic, and geographic data into a single, cohesive system.</a:t>
            </a:r>
          </a:p>
        </p:txBody>
      </p:sp>
      <p:sp>
        <p:nvSpPr>
          <p:cNvPr id="17" name="Rectangle: Rounded Corners 16">
            <a:extLst>
              <a:ext uri="{FF2B5EF4-FFF2-40B4-BE49-F238E27FC236}">
                <a16:creationId xmlns:a16="http://schemas.microsoft.com/office/drawing/2014/main" id="{788FD540-076F-3C61-52F0-E33148C59931}"/>
              </a:ext>
            </a:extLst>
          </p:cNvPr>
          <p:cNvSpPr/>
          <p:nvPr/>
        </p:nvSpPr>
        <p:spPr>
          <a:xfrm>
            <a:off x="86060" y="4624200"/>
            <a:ext cx="4324574" cy="1977204"/>
          </a:xfrm>
          <a:prstGeom prst="roundRect">
            <a:avLst/>
          </a:prstGeom>
          <a:solidFill>
            <a:srgbClr val="98B5AF"/>
          </a:solidFill>
          <a:ln>
            <a:noFill/>
          </a:ln>
          <a:effectLst>
            <a:innerShdw blurRad="63500" dist="50800" dir="2700000">
              <a:prstClr val="black">
                <a:alpha val="50000"/>
              </a:prstClr>
            </a:inn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8" name="TextBox 17">
            <a:extLst>
              <a:ext uri="{FF2B5EF4-FFF2-40B4-BE49-F238E27FC236}">
                <a16:creationId xmlns:a16="http://schemas.microsoft.com/office/drawing/2014/main" id="{1BC66EF0-39F2-B815-95B2-32F3459306AF}"/>
              </a:ext>
            </a:extLst>
          </p:cNvPr>
          <p:cNvSpPr txBox="1"/>
          <p:nvPr/>
        </p:nvSpPr>
        <p:spPr>
          <a:xfrm>
            <a:off x="86060" y="4820633"/>
            <a:ext cx="4324573" cy="1477328"/>
          </a:xfrm>
          <a:prstGeom prst="rect">
            <a:avLst/>
          </a:prstGeom>
          <a:noFill/>
        </p:spPr>
        <p:txBody>
          <a:bodyPr wrap="square" rtlCol="0">
            <a:spAutoFit/>
          </a:bodyPr>
          <a:lstStyle/>
          <a:p>
            <a:pPr lvl="0" algn="ctr"/>
            <a:r>
              <a:rPr lang="en-GB" b="1" u="sng" dirty="0">
                <a:solidFill>
                  <a:schemeClr val="bg1"/>
                </a:solidFill>
              </a:rPr>
              <a:t>CREATE REAL-TIME DASHBOARDS</a:t>
            </a:r>
          </a:p>
          <a:p>
            <a:pPr lvl="0"/>
            <a:r>
              <a:rPr lang="en-GB" dirty="0">
                <a:solidFill>
                  <a:schemeClr val="bg1"/>
                </a:solidFill>
              </a:rPr>
              <a:t>To enable real-time monitoring of health disparities and speed up decision-making and actions, create interactive dashboards.</a:t>
            </a:r>
          </a:p>
        </p:txBody>
      </p:sp>
      <p:sp>
        <p:nvSpPr>
          <p:cNvPr id="19" name="TextBox 18">
            <a:extLst>
              <a:ext uri="{FF2B5EF4-FFF2-40B4-BE49-F238E27FC236}">
                <a16:creationId xmlns:a16="http://schemas.microsoft.com/office/drawing/2014/main" id="{D76C5FEC-DA7D-38A8-E1AF-CB174A517440}"/>
              </a:ext>
            </a:extLst>
          </p:cNvPr>
          <p:cNvSpPr txBox="1"/>
          <p:nvPr/>
        </p:nvSpPr>
        <p:spPr>
          <a:xfrm>
            <a:off x="7882633" y="509694"/>
            <a:ext cx="3767899" cy="1477328"/>
          </a:xfrm>
          <a:prstGeom prst="rect">
            <a:avLst/>
          </a:prstGeom>
          <a:noFill/>
        </p:spPr>
        <p:txBody>
          <a:bodyPr wrap="square" rtlCol="0">
            <a:spAutoFit/>
          </a:bodyPr>
          <a:lstStyle/>
          <a:p>
            <a:pPr algn="ctr"/>
            <a:r>
              <a:rPr lang="en-GB" b="1" u="sng" dirty="0">
                <a:solidFill>
                  <a:schemeClr val="bg1"/>
                </a:solidFill>
              </a:rPr>
              <a:t>AUTOMATE DATA PROCESSING</a:t>
            </a:r>
          </a:p>
          <a:p>
            <a:r>
              <a:rPr lang="en-GB" dirty="0">
                <a:solidFill>
                  <a:schemeClr val="bg1"/>
                </a:solidFill>
              </a:rPr>
              <a:t>By streamlining data processing and lowering the need for manual labour, automated processes can improve accuracy and efficiency.</a:t>
            </a:r>
          </a:p>
        </p:txBody>
      </p:sp>
      <p:sp>
        <p:nvSpPr>
          <p:cNvPr id="21" name="Rectangle: Rounded Corners 20">
            <a:extLst>
              <a:ext uri="{FF2B5EF4-FFF2-40B4-BE49-F238E27FC236}">
                <a16:creationId xmlns:a16="http://schemas.microsoft.com/office/drawing/2014/main" id="{F19908CD-FD7E-A929-D3EA-386C762AB249}"/>
              </a:ext>
            </a:extLst>
          </p:cNvPr>
          <p:cNvSpPr/>
          <p:nvPr/>
        </p:nvSpPr>
        <p:spPr>
          <a:xfrm>
            <a:off x="7620003" y="4667878"/>
            <a:ext cx="4324573" cy="1977204"/>
          </a:xfrm>
          <a:prstGeom prst="roundRect">
            <a:avLst/>
          </a:prstGeom>
          <a:solidFill>
            <a:srgbClr val="98B5AF"/>
          </a:solidFill>
          <a:ln>
            <a:noFill/>
          </a:ln>
          <a:effectLst>
            <a:innerShdw blurRad="63500" dist="50800" dir="2700000">
              <a:prstClr val="black">
                <a:alpha val="50000"/>
              </a:prstClr>
            </a:inn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2" name="TextBox 21">
            <a:extLst>
              <a:ext uri="{FF2B5EF4-FFF2-40B4-BE49-F238E27FC236}">
                <a16:creationId xmlns:a16="http://schemas.microsoft.com/office/drawing/2014/main" id="{3EBCDCEE-1718-4614-6747-FC281F89A994}"/>
              </a:ext>
            </a:extLst>
          </p:cNvPr>
          <p:cNvSpPr txBox="1"/>
          <p:nvPr/>
        </p:nvSpPr>
        <p:spPr>
          <a:xfrm>
            <a:off x="7755875" y="4820633"/>
            <a:ext cx="4021156" cy="1754326"/>
          </a:xfrm>
          <a:prstGeom prst="rect">
            <a:avLst/>
          </a:prstGeom>
          <a:noFill/>
        </p:spPr>
        <p:txBody>
          <a:bodyPr wrap="square" rtlCol="0">
            <a:spAutoFit/>
          </a:bodyPr>
          <a:lstStyle/>
          <a:p>
            <a:pPr algn="ctr"/>
            <a:r>
              <a:rPr lang="en-GB" b="1" u="sng" dirty="0">
                <a:solidFill>
                  <a:schemeClr val="bg1"/>
                </a:solidFill>
              </a:rPr>
              <a:t>ENABLE PROACTIVE INTERVENTIONS</a:t>
            </a:r>
          </a:p>
          <a:p>
            <a:r>
              <a:rPr lang="en-GB" dirty="0">
                <a:solidFill>
                  <a:schemeClr val="bg1"/>
                </a:solidFill>
              </a:rPr>
              <a:t>By providing real-time insights, healthcare organisations and providers can take early action to address new health issues before they become more serious.</a:t>
            </a:r>
          </a:p>
        </p:txBody>
      </p:sp>
    </p:spTree>
    <p:extLst>
      <p:ext uri="{BB962C8B-B14F-4D97-AF65-F5344CB8AC3E}">
        <p14:creationId xmlns:p14="http://schemas.microsoft.com/office/powerpoint/2010/main" val="344230464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Water droplets on a leaf&#10;&#10;AI-generated content may be incorrect.">
            <a:extLst>
              <a:ext uri="{FF2B5EF4-FFF2-40B4-BE49-F238E27FC236}">
                <a16:creationId xmlns:a16="http://schemas.microsoft.com/office/drawing/2014/main" id="{D0527453-1C77-E88A-A0A3-6F6ECA6CAE2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88037"/>
            <a:ext cx="12192000" cy="6858000"/>
          </a:xfrm>
          <a:prstGeom prst="rect">
            <a:avLst/>
          </a:prstGeom>
        </p:spPr>
      </p:pic>
      <p:pic>
        <p:nvPicPr>
          <p:cNvPr id="20" name="Picture 19" descr="A pink calendar with a blue and grey square with a blue square with a blue square with a blue square with a blue square with a blue square with a blue square with a black text on it&#10;&#10;AI-generated content may be incorrect.">
            <a:extLst>
              <a:ext uri="{FF2B5EF4-FFF2-40B4-BE49-F238E27FC236}">
                <a16:creationId xmlns:a16="http://schemas.microsoft.com/office/drawing/2014/main" id="{5E45BCC4-634C-8476-A4CF-B46C3940A97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843315" y="5378824"/>
            <a:ext cx="1961092" cy="1032482"/>
          </a:xfrm>
          <a:prstGeom prst="rect">
            <a:avLst/>
          </a:prstGeom>
        </p:spPr>
      </p:pic>
      <p:pic>
        <p:nvPicPr>
          <p:cNvPr id="21" name="Picture 20" descr="A pink card with a cartoon of a person&#10;&#10;AI-generated content may be incorrect.">
            <a:extLst>
              <a:ext uri="{FF2B5EF4-FFF2-40B4-BE49-F238E27FC236}">
                <a16:creationId xmlns:a16="http://schemas.microsoft.com/office/drawing/2014/main" id="{E0D75E23-CBAE-723E-9C91-BA581430441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80452" y="1872343"/>
            <a:ext cx="1852161" cy="1159107"/>
          </a:xfrm>
          <a:prstGeom prst="rect">
            <a:avLst/>
          </a:prstGeom>
        </p:spPr>
      </p:pic>
      <p:pic>
        <p:nvPicPr>
          <p:cNvPr id="22" name="Picture 21" descr="A screenshot of a medical admission&#10;&#10;AI-generated content may be incorrect.">
            <a:extLst>
              <a:ext uri="{FF2B5EF4-FFF2-40B4-BE49-F238E27FC236}">
                <a16:creationId xmlns:a16="http://schemas.microsoft.com/office/drawing/2014/main" id="{6C20A655-771A-E98C-4BA4-4DF3C231A304}"/>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403592" y="2217687"/>
            <a:ext cx="1852160" cy="1446682"/>
          </a:xfrm>
          <a:prstGeom prst="rect">
            <a:avLst/>
          </a:prstGeom>
        </p:spPr>
      </p:pic>
      <p:pic>
        <p:nvPicPr>
          <p:cNvPr id="23" name="Picture 22" descr="A blue square with a yellow face and green text&#10;&#10;AI-generated content may be incorrect.">
            <a:extLst>
              <a:ext uri="{FF2B5EF4-FFF2-40B4-BE49-F238E27FC236}">
                <a16:creationId xmlns:a16="http://schemas.microsoft.com/office/drawing/2014/main" id="{097CE0AD-4A25-0D3A-3E17-38FFF76F5826}"/>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952245" y="0"/>
            <a:ext cx="1852162" cy="1032482"/>
          </a:xfrm>
          <a:prstGeom prst="rect">
            <a:avLst/>
          </a:prstGeom>
        </p:spPr>
      </p:pic>
      <p:pic>
        <p:nvPicPr>
          <p:cNvPr id="24" name="Picture 23" descr="A blue and black sign with text and a circle with people&#10;&#10;AI-generated content may be incorrect.">
            <a:extLst>
              <a:ext uri="{FF2B5EF4-FFF2-40B4-BE49-F238E27FC236}">
                <a16:creationId xmlns:a16="http://schemas.microsoft.com/office/drawing/2014/main" id="{978E0CAA-B623-3ABD-7DA7-F67F81E14657}"/>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680452" y="3724811"/>
            <a:ext cx="1852161" cy="1159107"/>
          </a:xfrm>
          <a:prstGeom prst="rect">
            <a:avLst/>
          </a:prstGeom>
        </p:spPr>
      </p:pic>
      <p:pic>
        <p:nvPicPr>
          <p:cNvPr id="25" name="Picture 24" descr="A heart shaped handshake and text&#10;&#10;AI-generated content may be incorrect.">
            <a:extLst>
              <a:ext uri="{FF2B5EF4-FFF2-40B4-BE49-F238E27FC236}">
                <a16:creationId xmlns:a16="http://schemas.microsoft.com/office/drawing/2014/main" id="{74A2211D-A82F-0B80-7168-6E652C5A0305}"/>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7349579" y="5586158"/>
            <a:ext cx="1895565" cy="925160"/>
          </a:xfrm>
          <a:prstGeom prst="rect">
            <a:avLst/>
          </a:prstGeom>
        </p:spPr>
      </p:pic>
      <p:pic>
        <p:nvPicPr>
          <p:cNvPr id="26" name="Picture 25" descr="A sign with a bed and a plus and a sign&#10;&#10;AI-generated content may be incorrect.">
            <a:extLst>
              <a:ext uri="{FF2B5EF4-FFF2-40B4-BE49-F238E27FC236}">
                <a16:creationId xmlns:a16="http://schemas.microsoft.com/office/drawing/2014/main" id="{00FD98BC-C7A9-2BEF-4E92-5272D0867CDB}"/>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9498841" y="4204467"/>
            <a:ext cx="1720702" cy="1104743"/>
          </a:xfrm>
          <a:prstGeom prst="rect">
            <a:avLst/>
          </a:prstGeom>
        </p:spPr>
      </p:pic>
      <p:pic>
        <p:nvPicPr>
          <p:cNvPr id="27" name="Picture 26" descr="A red pin with a blue circle and black text&#10;&#10;AI-generated content may be incorrect.">
            <a:extLst>
              <a:ext uri="{FF2B5EF4-FFF2-40B4-BE49-F238E27FC236}">
                <a16:creationId xmlns:a16="http://schemas.microsoft.com/office/drawing/2014/main" id="{A84B0B11-CB8B-1AB9-7754-D87A84257C61}"/>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8070271" y="346682"/>
            <a:ext cx="1852160" cy="1132494"/>
          </a:xfrm>
          <a:prstGeom prst="rect">
            <a:avLst/>
          </a:prstGeom>
        </p:spPr>
      </p:pic>
      <p:sp>
        <p:nvSpPr>
          <p:cNvPr id="36" name="Rectangle: Rounded Corners 35">
            <a:extLst>
              <a:ext uri="{FF2B5EF4-FFF2-40B4-BE49-F238E27FC236}">
                <a16:creationId xmlns:a16="http://schemas.microsoft.com/office/drawing/2014/main" id="{51D65046-FEB3-3729-890C-1575244ECC2D}"/>
              </a:ext>
            </a:extLst>
          </p:cNvPr>
          <p:cNvSpPr/>
          <p:nvPr/>
        </p:nvSpPr>
        <p:spPr>
          <a:xfrm>
            <a:off x="4840941" y="2326507"/>
            <a:ext cx="2807746" cy="1865261"/>
          </a:xfrm>
          <a:prstGeom prst="roundRect">
            <a:avLst/>
          </a:prstGeom>
          <a:noFill/>
          <a:ln>
            <a:noFill/>
          </a:ln>
          <a:effectLst>
            <a:innerShdw blurRad="63500" dist="50800" dir="2700000">
              <a:prstClr val="black">
                <a:alpha val="50000"/>
              </a:prstClr>
            </a:inn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solidFill>
                <a:schemeClr val="bg1"/>
              </a:solidFill>
            </a:endParaRPr>
          </a:p>
        </p:txBody>
      </p:sp>
      <p:sp>
        <p:nvSpPr>
          <p:cNvPr id="37" name="TextBox 36">
            <a:extLst>
              <a:ext uri="{FF2B5EF4-FFF2-40B4-BE49-F238E27FC236}">
                <a16:creationId xmlns:a16="http://schemas.microsoft.com/office/drawing/2014/main" id="{F733764E-6159-ABC2-E6A3-48604DF55FA7}"/>
              </a:ext>
            </a:extLst>
          </p:cNvPr>
          <p:cNvSpPr txBox="1"/>
          <p:nvPr/>
        </p:nvSpPr>
        <p:spPr>
          <a:xfrm>
            <a:off x="5150630" y="2579243"/>
            <a:ext cx="2188368" cy="1323439"/>
          </a:xfrm>
          <a:prstGeom prst="rect">
            <a:avLst/>
          </a:prstGeom>
          <a:noFill/>
        </p:spPr>
        <p:txBody>
          <a:bodyPr wrap="square" rtlCol="0">
            <a:spAutoFit/>
          </a:bodyPr>
          <a:lstStyle/>
          <a:p>
            <a:pPr algn="ctr"/>
            <a:r>
              <a:rPr lang="en-GB" sz="8000" dirty="0">
                <a:solidFill>
                  <a:schemeClr val="bg1"/>
                </a:solidFill>
              </a:rPr>
              <a:t>KPIs</a:t>
            </a:r>
          </a:p>
        </p:txBody>
      </p:sp>
      <p:cxnSp>
        <p:nvCxnSpPr>
          <p:cNvPr id="39" name="Straight Arrow Connector 38">
            <a:extLst>
              <a:ext uri="{FF2B5EF4-FFF2-40B4-BE49-F238E27FC236}">
                <a16:creationId xmlns:a16="http://schemas.microsoft.com/office/drawing/2014/main" id="{D1725E5E-A142-1BE2-FA13-4494A80D9A2F}"/>
              </a:ext>
            </a:extLst>
          </p:cNvPr>
          <p:cNvCxnSpPr>
            <a:cxnSpLocks/>
          </p:cNvCxnSpPr>
          <p:nvPr/>
        </p:nvCxnSpPr>
        <p:spPr>
          <a:xfrm flipH="1" flipV="1">
            <a:off x="3496235" y="1241561"/>
            <a:ext cx="1258645" cy="976126"/>
          </a:xfrm>
          <a:prstGeom prst="straightConnector1">
            <a:avLst/>
          </a:prstGeom>
          <a:ln w="38100">
            <a:tailEnd type="triangle"/>
          </a:ln>
        </p:spPr>
        <p:style>
          <a:lnRef idx="2">
            <a:schemeClr val="accent2"/>
          </a:lnRef>
          <a:fillRef idx="0">
            <a:schemeClr val="accent2"/>
          </a:fillRef>
          <a:effectRef idx="1">
            <a:schemeClr val="accent2"/>
          </a:effectRef>
          <a:fontRef idx="minor">
            <a:schemeClr val="tx1"/>
          </a:fontRef>
        </p:style>
      </p:cxnSp>
      <p:cxnSp>
        <p:nvCxnSpPr>
          <p:cNvPr id="40" name="Straight Arrow Connector 39">
            <a:extLst>
              <a:ext uri="{FF2B5EF4-FFF2-40B4-BE49-F238E27FC236}">
                <a16:creationId xmlns:a16="http://schemas.microsoft.com/office/drawing/2014/main" id="{3EC4C3B9-F2D6-C22A-0B95-422177F2EB20}"/>
              </a:ext>
            </a:extLst>
          </p:cNvPr>
          <p:cNvCxnSpPr>
            <a:cxnSpLocks/>
          </p:cNvCxnSpPr>
          <p:nvPr/>
        </p:nvCxnSpPr>
        <p:spPr>
          <a:xfrm flipH="1" flipV="1">
            <a:off x="2646969" y="2796988"/>
            <a:ext cx="1852162" cy="314232"/>
          </a:xfrm>
          <a:prstGeom prst="straightConnector1">
            <a:avLst/>
          </a:prstGeom>
          <a:ln w="38100">
            <a:tailEnd type="triangle"/>
          </a:ln>
        </p:spPr>
        <p:style>
          <a:lnRef idx="2">
            <a:schemeClr val="accent2"/>
          </a:lnRef>
          <a:fillRef idx="0">
            <a:schemeClr val="accent2"/>
          </a:fillRef>
          <a:effectRef idx="1">
            <a:schemeClr val="accent2"/>
          </a:effectRef>
          <a:fontRef idx="minor">
            <a:schemeClr val="tx1"/>
          </a:fontRef>
        </p:style>
      </p:cxnSp>
      <p:cxnSp>
        <p:nvCxnSpPr>
          <p:cNvPr id="41" name="Straight Arrow Connector 40">
            <a:extLst>
              <a:ext uri="{FF2B5EF4-FFF2-40B4-BE49-F238E27FC236}">
                <a16:creationId xmlns:a16="http://schemas.microsoft.com/office/drawing/2014/main" id="{545A5DFD-A431-A494-6B94-EF7FDFB1444C}"/>
              </a:ext>
            </a:extLst>
          </p:cNvPr>
          <p:cNvCxnSpPr>
            <a:cxnSpLocks/>
          </p:cNvCxnSpPr>
          <p:nvPr/>
        </p:nvCxnSpPr>
        <p:spPr>
          <a:xfrm flipH="1">
            <a:off x="2663847" y="3664369"/>
            <a:ext cx="1835284" cy="770742"/>
          </a:xfrm>
          <a:prstGeom prst="straightConnector1">
            <a:avLst/>
          </a:prstGeom>
          <a:ln w="38100">
            <a:tailEnd type="triangle"/>
          </a:ln>
        </p:spPr>
        <p:style>
          <a:lnRef idx="2">
            <a:schemeClr val="accent2"/>
          </a:lnRef>
          <a:fillRef idx="0">
            <a:schemeClr val="accent2"/>
          </a:fillRef>
          <a:effectRef idx="1">
            <a:schemeClr val="accent2"/>
          </a:effectRef>
          <a:fontRef idx="minor">
            <a:schemeClr val="tx1"/>
          </a:fontRef>
        </p:style>
      </p:cxnSp>
      <p:cxnSp>
        <p:nvCxnSpPr>
          <p:cNvPr id="42" name="Straight Arrow Connector 41">
            <a:extLst>
              <a:ext uri="{FF2B5EF4-FFF2-40B4-BE49-F238E27FC236}">
                <a16:creationId xmlns:a16="http://schemas.microsoft.com/office/drawing/2014/main" id="{1EDE557B-C2CE-C85C-FF48-4436277A36C6}"/>
              </a:ext>
            </a:extLst>
          </p:cNvPr>
          <p:cNvCxnSpPr>
            <a:cxnSpLocks/>
          </p:cNvCxnSpPr>
          <p:nvPr/>
        </p:nvCxnSpPr>
        <p:spPr>
          <a:xfrm flipH="1">
            <a:off x="3667550" y="4303405"/>
            <a:ext cx="1174873" cy="1238909"/>
          </a:xfrm>
          <a:prstGeom prst="straightConnector1">
            <a:avLst/>
          </a:prstGeom>
          <a:ln w="38100">
            <a:tailEnd type="triangle"/>
          </a:ln>
        </p:spPr>
        <p:style>
          <a:lnRef idx="2">
            <a:schemeClr val="accent2"/>
          </a:lnRef>
          <a:fillRef idx="0">
            <a:schemeClr val="accent2"/>
          </a:fillRef>
          <a:effectRef idx="1">
            <a:schemeClr val="accent2"/>
          </a:effectRef>
          <a:fontRef idx="minor">
            <a:schemeClr val="tx1"/>
          </a:fontRef>
        </p:style>
      </p:cxnSp>
      <p:cxnSp>
        <p:nvCxnSpPr>
          <p:cNvPr id="43" name="Straight Arrow Connector 42">
            <a:extLst>
              <a:ext uri="{FF2B5EF4-FFF2-40B4-BE49-F238E27FC236}">
                <a16:creationId xmlns:a16="http://schemas.microsoft.com/office/drawing/2014/main" id="{5124C118-00F3-9B69-B59D-4562DFDE7122}"/>
              </a:ext>
            </a:extLst>
          </p:cNvPr>
          <p:cNvCxnSpPr>
            <a:cxnSpLocks/>
          </p:cNvCxnSpPr>
          <p:nvPr/>
        </p:nvCxnSpPr>
        <p:spPr>
          <a:xfrm>
            <a:off x="7349579" y="4303405"/>
            <a:ext cx="1055977" cy="1075419"/>
          </a:xfrm>
          <a:prstGeom prst="straightConnector1">
            <a:avLst/>
          </a:prstGeom>
          <a:ln w="38100">
            <a:tailEnd type="triangle"/>
          </a:ln>
        </p:spPr>
        <p:style>
          <a:lnRef idx="2">
            <a:schemeClr val="accent2"/>
          </a:lnRef>
          <a:fillRef idx="0">
            <a:schemeClr val="accent2"/>
          </a:fillRef>
          <a:effectRef idx="1">
            <a:schemeClr val="accent2"/>
          </a:effectRef>
          <a:fontRef idx="minor">
            <a:schemeClr val="tx1"/>
          </a:fontRef>
        </p:style>
      </p:cxnSp>
      <p:cxnSp>
        <p:nvCxnSpPr>
          <p:cNvPr id="44" name="Straight Arrow Connector 43">
            <a:extLst>
              <a:ext uri="{FF2B5EF4-FFF2-40B4-BE49-F238E27FC236}">
                <a16:creationId xmlns:a16="http://schemas.microsoft.com/office/drawing/2014/main" id="{9711799F-9661-C1A6-C1F5-5C7B39E8DD8D}"/>
              </a:ext>
            </a:extLst>
          </p:cNvPr>
          <p:cNvCxnSpPr>
            <a:cxnSpLocks/>
          </p:cNvCxnSpPr>
          <p:nvPr/>
        </p:nvCxnSpPr>
        <p:spPr>
          <a:xfrm>
            <a:off x="7817954" y="3664369"/>
            <a:ext cx="1522118" cy="873474"/>
          </a:xfrm>
          <a:prstGeom prst="straightConnector1">
            <a:avLst/>
          </a:prstGeom>
          <a:ln w="38100">
            <a:tailEnd type="triangle"/>
          </a:ln>
        </p:spPr>
        <p:style>
          <a:lnRef idx="2">
            <a:schemeClr val="accent2"/>
          </a:lnRef>
          <a:fillRef idx="0">
            <a:schemeClr val="accent2"/>
          </a:fillRef>
          <a:effectRef idx="1">
            <a:schemeClr val="accent2"/>
          </a:effectRef>
          <a:fontRef idx="minor">
            <a:schemeClr val="tx1"/>
          </a:fontRef>
        </p:style>
      </p:cxnSp>
      <p:cxnSp>
        <p:nvCxnSpPr>
          <p:cNvPr id="45" name="Straight Arrow Connector 44">
            <a:extLst>
              <a:ext uri="{FF2B5EF4-FFF2-40B4-BE49-F238E27FC236}">
                <a16:creationId xmlns:a16="http://schemas.microsoft.com/office/drawing/2014/main" id="{67B8321B-7F85-F486-7065-FD02CB5CED91}"/>
              </a:ext>
            </a:extLst>
          </p:cNvPr>
          <p:cNvCxnSpPr>
            <a:cxnSpLocks/>
          </p:cNvCxnSpPr>
          <p:nvPr/>
        </p:nvCxnSpPr>
        <p:spPr>
          <a:xfrm flipV="1">
            <a:off x="7889226" y="2666232"/>
            <a:ext cx="1258617" cy="339725"/>
          </a:xfrm>
          <a:prstGeom prst="straightConnector1">
            <a:avLst/>
          </a:prstGeom>
          <a:ln w="38100">
            <a:tailEnd type="triangle"/>
          </a:ln>
        </p:spPr>
        <p:style>
          <a:lnRef idx="2">
            <a:schemeClr val="accent2"/>
          </a:lnRef>
          <a:fillRef idx="0">
            <a:schemeClr val="accent2"/>
          </a:fillRef>
          <a:effectRef idx="1">
            <a:schemeClr val="accent2"/>
          </a:effectRef>
          <a:fontRef idx="minor">
            <a:schemeClr val="tx1"/>
          </a:fontRef>
        </p:style>
      </p:cxnSp>
      <p:cxnSp>
        <p:nvCxnSpPr>
          <p:cNvPr id="46" name="Straight Arrow Connector 45">
            <a:extLst>
              <a:ext uri="{FF2B5EF4-FFF2-40B4-BE49-F238E27FC236}">
                <a16:creationId xmlns:a16="http://schemas.microsoft.com/office/drawing/2014/main" id="{697E6003-619C-D5AB-64A7-1B2832FBEFE9}"/>
              </a:ext>
            </a:extLst>
          </p:cNvPr>
          <p:cNvCxnSpPr>
            <a:cxnSpLocks/>
          </p:cNvCxnSpPr>
          <p:nvPr/>
        </p:nvCxnSpPr>
        <p:spPr>
          <a:xfrm flipV="1">
            <a:off x="7132320" y="1124002"/>
            <a:ext cx="776262" cy="959042"/>
          </a:xfrm>
          <a:prstGeom prst="straightConnector1">
            <a:avLst/>
          </a:prstGeom>
          <a:ln w="38100">
            <a:tailEnd type="triangle"/>
          </a:ln>
        </p:spPr>
        <p:style>
          <a:lnRef idx="2">
            <a:schemeClr val="accent2"/>
          </a:lnRef>
          <a:fillRef idx="0">
            <a:schemeClr val="accent2"/>
          </a:fillRef>
          <a:effectRef idx="1">
            <a:schemeClr val="accent2"/>
          </a:effectRef>
          <a:fontRef idx="minor">
            <a:schemeClr val="tx1"/>
          </a:fontRef>
        </p:style>
      </p:cxnSp>
    </p:spTree>
    <p:extLst>
      <p:ext uri="{BB962C8B-B14F-4D97-AF65-F5344CB8AC3E}">
        <p14:creationId xmlns:p14="http://schemas.microsoft.com/office/powerpoint/2010/main" val="277035164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Water droplets on a leaf&#10;&#10;AI-generated content may be incorrect.">
            <a:extLst>
              <a:ext uri="{FF2B5EF4-FFF2-40B4-BE49-F238E27FC236}">
                <a16:creationId xmlns:a16="http://schemas.microsoft.com/office/drawing/2014/main" id="{AD695DAC-85B7-A1C5-1BA9-8D143E51253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2273" y="-145687"/>
            <a:ext cx="12192000" cy="6858000"/>
          </a:xfrm>
          <a:prstGeom prst="rect">
            <a:avLst/>
          </a:prstGeom>
          <a:effectLst>
            <a:outerShdw blurRad="50800" dist="38100" dir="10800000" algn="r" rotWithShape="0">
              <a:prstClr val="black">
                <a:alpha val="40000"/>
              </a:prstClr>
            </a:outerShdw>
          </a:effectLst>
        </p:spPr>
      </p:pic>
      <p:sp>
        <p:nvSpPr>
          <p:cNvPr id="11" name="Rectangle: Diagonal Corners Rounded 10">
            <a:extLst>
              <a:ext uri="{FF2B5EF4-FFF2-40B4-BE49-F238E27FC236}">
                <a16:creationId xmlns:a16="http://schemas.microsoft.com/office/drawing/2014/main" id="{94328671-7268-3633-EE51-33D736D6CD47}"/>
              </a:ext>
            </a:extLst>
          </p:cNvPr>
          <p:cNvSpPr/>
          <p:nvPr/>
        </p:nvSpPr>
        <p:spPr>
          <a:xfrm>
            <a:off x="4184723" y="239104"/>
            <a:ext cx="3203048" cy="3661676"/>
          </a:xfrm>
          <a:prstGeom prst="round2DiagRect">
            <a:avLst/>
          </a:prstGeom>
          <a:noFill/>
          <a:ln>
            <a:solidFill>
              <a:schemeClr val="bg1"/>
            </a:solidFill>
          </a:ln>
          <a:effectLst>
            <a:innerShdw blurRad="63500" dist="50800" dir="2700000">
              <a:prstClr val="black">
                <a:alpha val="50000"/>
              </a:prstClr>
            </a:inn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7" name="Rectangle: Rounded Corners 16">
            <a:extLst>
              <a:ext uri="{FF2B5EF4-FFF2-40B4-BE49-F238E27FC236}">
                <a16:creationId xmlns:a16="http://schemas.microsoft.com/office/drawing/2014/main" id="{0AD35D1D-0FB2-66F8-16FC-213894315D07}"/>
              </a:ext>
            </a:extLst>
          </p:cNvPr>
          <p:cNvSpPr/>
          <p:nvPr/>
        </p:nvSpPr>
        <p:spPr>
          <a:xfrm>
            <a:off x="32273" y="72613"/>
            <a:ext cx="3980329" cy="4963844"/>
          </a:xfrm>
          <a:prstGeom prst="roundRect">
            <a:avLst/>
          </a:prstGeom>
          <a:solidFill>
            <a:schemeClr val="bg1"/>
          </a:solidFill>
          <a:ln>
            <a:noFill/>
          </a:ln>
          <a:effectLst>
            <a:innerShdw blurRad="63500" dist="50800" dir="2700000">
              <a:prstClr val="black">
                <a:alpha val="50000"/>
              </a:prstClr>
            </a:inn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3" name="Picture 12" descr="A graph of a number of people&#10;&#10;AI-generated content may be incorrect.">
            <a:extLst>
              <a:ext uri="{FF2B5EF4-FFF2-40B4-BE49-F238E27FC236}">
                <a16:creationId xmlns:a16="http://schemas.microsoft.com/office/drawing/2014/main" id="{AB00D8AC-A875-1A5C-8011-BD414C50B7D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4394" y="242849"/>
            <a:ext cx="3657601" cy="4459780"/>
          </a:xfrm>
          <a:prstGeom prst="rect">
            <a:avLst/>
          </a:prstGeom>
          <a:ln>
            <a:noFill/>
          </a:ln>
          <a:effectLst>
            <a:outerShdw blurRad="50800" dist="38100" dir="13500000" algn="br" rotWithShape="0">
              <a:prstClr val="black">
                <a:alpha val="40000"/>
              </a:prstClr>
            </a:outerShdw>
          </a:effectLst>
        </p:spPr>
      </p:pic>
      <p:sp>
        <p:nvSpPr>
          <p:cNvPr id="18" name="Rectangle: Rounded Corners 17">
            <a:extLst>
              <a:ext uri="{FF2B5EF4-FFF2-40B4-BE49-F238E27FC236}">
                <a16:creationId xmlns:a16="http://schemas.microsoft.com/office/drawing/2014/main" id="{205E2B79-6AD0-C45A-9B3F-CD3C6BDBC08F}"/>
              </a:ext>
            </a:extLst>
          </p:cNvPr>
          <p:cNvSpPr/>
          <p:nvPr/>
        </p:nvSpPr>
        <p:spPr>
          <a:xfrm>
            <a:off x="7659445" y="156415"/>
            <a:ext cx="4423185" cy="4880042"/>
          </a:xfrm>
          <a:prstGeom prst="roundRect">
            <a:avLst/>
          </a:prstGeom>
          <a:solidFill>
            <a:schemeClr val="bg1"/>
          </a:solidFill>
          <a:ln>
            <a:noFill/>
          </a:ln>
          <a:effectLst>
            <a:innerShdw blurRad="63500" dist="50800" dir="2700000">
              <a:prstClr val="black">
                <a:alpha val="50000"/>
              </a:prstClr>
            </a:inn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5" name="Picture 14" descr="A colorful circle with text and numbers&#10;&#10;AI-generated content may be incorrect.">
            <a:extLst>
              <a:ext uri="{FF2B5EF4-FFF2-40B4-BE49-F238E27FC236}">
                <a16:creationId xmlns:a16="http://schemas.microsoft.com/office/drawing/2014/main" id="{7FF25E43-02BA-EE73-D65D-AB2A2332F3A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960659" y="537879"/>
            <a:ext cx="3993136" cy="4164749"/>
          </a:xfrm>
          <a:prstGeom prst="rect">
            <a:avLst/>
          </a:prstGeom>
        </p:spPr>
      </p:pic>
      <p:sp>
        <p:nvSpPr>
          <p:cNvPr id="2" name="TextBox 1">
            <a:extLst>
              <a:ext uri="{FF2B5EF4-FFF2-40B4-BE49-F238E27FC236}">
                <a16:creationId xmlns:a16="http://schemas.microsoft.com/office/drawing/2014/main" id="{7FF59344-2DE6-22AC-E69E-8F60FA3839F1}"/>
              </a:ext>
            </a:extLst>
          </p:cNvPr>
          <p:cNvSpPr txBox="1"/>
          <p:nvPr/>
        </p:nvSpPr>
        <p:spPr>
          <a:xfrm>
            <a:off x="4397829" y="435429"/>
            <a:ext cx="2772228" cy="3416320"/>
          </a:xfrm>
          <a:prstGeom prst="rect">
            <a:avLst/>
          </a:prstGeom>
          <a:noFill/>
        </p:spPr>
        <p:txBody>
          <a:bodyPr wrap="square" rtlCol="0">
            <a:spAutoFit/>
          </a:bodyPr>
          <a:lstStyle/>
          <a:p>
            <a:r>
              <a:rPr lang="en-GB" sz="2400" dirty="0">
                <a:solidFill>
                  <a:schemeClr val="bg1"/>
                </a:solidFill>
              </a:rPr>
              <a:t>Highest population (1,997) had only primary school education which contributes to many population having Low health literacy level(40.68%)</a:t>
            </a:r>
          </a:p>
        </p:txBody>
      </p:sp>
    </p:spTree>
    <p:extLst>
      <p:ext uri="{BB962C8B-B14F-4D97-AF65-F5344CB8AC3E}">
        <p14:creationId xmlns:p14="http://schemas.microsoft.com/office/powerpoint/2010/main" val="12667824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E33CEA-2F5C-5BA6-8085-DBBA3E5E9056}"/>
            </a:ext>
          </a:extLst>
        </p:cNvPr>
        <p:cNvGrpSpPr/>
        <p:nvPr/>
      </p:nvGrpSpPr>
      <p:grpSpPr>
        <a:xfrm>
          <a:off x="0" y="0"/>
          <a:ext cx="0" cy="0"/>
          <a:chOff x="0" y="0"/>
          <a:chExt cx="0" cy="0"/>
        </a:xfrm>
      </p:grpSpPr>
      <p:pic>
        <p:nvPicPr>
          <p:cNvPr id="3" name="Picture 2" descr="Water droplets on a leaf&#10;&#10;AI-generated content may be incorrect.">
            <a:extLst>
              <a:ext uri="{FF2B5EF4-FFF2-40B4-BE49-F238E27FC236}">
                <a16:creationId xmlns:a16="http://schemas.microsoft.com/office/drawing/2014/main" id="{5867EAFB-6C63-B0B3-EACC-A29D872C19F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a:effectLst>
            <a:outerShdw blurRad="50800" dist="38100" dir="10800000" algn="r" rotWithShape="0">
              <a:prstClr val="black">
                <a:alpha val="40000"/>
              </a:prstClr>
            </a:outerShdw>
          </a:effectLst>
        </p:spPr>
      </p:pic>
      <p:sp>
        <p:nvSpPr>
          <p:cNvPr id="11" name="Rectangle: Diagonal Corners Rounded 10">
            <a:extLst>
              <a:ext uri="{FF2B5EF4-FFF2-40B4-BE49-F238E27FC236}">
                <a16:creationId xmlns:a16="http://schemas.microsoft.com/office/drawing/2014/main" id="{D21EF457-7A6A-E9CC-5B81-64EDFEAD4A4C}"/>
              </a:ext>
            </a:extLst>
          </p:cNvPr>
          <p:cNvSpPr/>
          <p:nvPr/>
        </p:nvSpPr>
        <p:spPr>
          <a:xfrm>
            <a:off x="4055633" y="256278"/>
            <a:ext cx="3768761" cy="3575493"/>
          </a:xfrm>
          <a:prstGeom prst="round2DiagRect">
            <a:avLst/>
          </a:prstGeom>
          <a:noFill/>
          <a:ln>
            <a:solidFill>
              <a:schemeClr val="bg1"/>
            </a:solidFill>
          </a:ln>
          <a:effectLst>
            <a:innerShdw blurRad="63500" dist="50800" dir="2700000">
              <a:prstClr val="black">
                <a:alpha val="50000"/>
              </a:prstClr>
            </a:inn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7" name="Rectangle: Rounded Corners 16">
            <a:extLst>
              <a:ext uri="{FF2B5EF4-FFF2-40B4-BE49-F238E27FC236}">
                <a16:creationId xmlns:a16="http://schemas.microsoft.com/office/drawing/2014/main" id="{5C7513B4-4D97-AC4F-36DC-04A393BB3DC4}"/>
              </a:ext>
            </a:extLst>
          </p:cNvPr>
          <p:cNvSpPr/>
          <p:nvPr/>
        </p:nvSpPr>
        <p:spPr>
          <a:xfrm>
            <a:off x="96819" y="72613"/>
            <a:ext cx="3689873" cy="5065443"/>
          </a:xfrm>
          <a:prstGeom prst="roundRect">
            <a:avLst/>
          </a:prstGeom>
          <a:solidFill>
            <a:schemeClr val="bg1"/>
          </a:solidFill>
          <a:ln>
            <a:noFill/>
          </a:ln>
          <a:effectLst>
            <a:innerShdw blurRad="63500" dist="50800" dir="2700000">
              <a:prstClr val="black">
                <a:alpha val="50000"/>
              </a:prstClr>
            </a:inn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8" name="Rectangle: Rounded Corners 17">
            <a:extLst>
              <a:ext uri="{FF2B5EF4-FFF2-40B4-BE49-F238E27FC236}">
                <a16:creationId xmlns:a16="http://schemas.microsoft.com/office/drawing/2014/main" id="{6B4E9A7F-8F94-B1ED-F188-496B0FF4614E}"/>
              </a:ext>
            </a:extLst>
          </p:cNvPr>
          <p:cNvSpPr/>
          <p:nvPr/>
        </p:nvSpPr>
        <p:spPr>
          <a:xfrm>
            <a:off x="8136368" y="72614"/>
            <a:ext cx="3858408" cy="5065442"/>
          </a:xfrm>
          <a:prstGeom prst="roundRect">
            <a:avLst/>
          </a:prstGeom>
          <a:solidFill>
            <a:schemeClr val="bg1"/>
          </a:solidFill>
          <a:ln>
            <a:noFill/>
          </a:ln>
          <a:effectLst>
            <a:innerShdw blurRad="63500" dist="50800" dir="2700000">
              <a:prstClr val="black">
                <a:alpha val="50000"/>
              </a:prstClr>
            </a:inn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2" name="Picture 1" descr="A graph of a number of people with green squares&#10;&#10;AI-generated content may be incorrect.">
            <a:extLst>
              <a:ext uri="{FF2B5EF4-FFF2-40B4-BE49-F238E27FC236}">
                <a16:creationId xmlns:a16="http://schemas.microsoft.com/office/drawing/2014/main" id="{5B703349-CD6A-B182-33C4-77221991E06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90456" y="256278"/>
            <a:ext cx="3184263" cy="4402808"/>
          </a:xfrm>
          <a:prstGeom prst="rect">
            <a:avLst/>
          </a:prstGeom>
        </p:spPr>
      </p:pic>
      <p:pic>
        <p:nvPicPr>
          <p:cNvPr id="4" name="Picture 3" descr="A colorful circle with numbers and text&#10;&#10;AI-generated content may be incorrect.">
            <a:extLst>
              <a:ext uri="{FF2B5EF4-FFF2-40B4-BE49-F238E27FC236}">
                <a16:creationId xmlns:a16="http://schemas.microsoft.com/office/drawing/2014/main" id="{34F33613-630C-29BF-D373-DAAA2F7604D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319248" y="396164"/>
            <a:ext cx="3474720" cy="4262922"/>
          </a:xfrm>
          <a:prstGeom prst="rect">
            <a:avLst/>
          </a:prstGeom>
        </p:spPr>
      </p:pic>
      <p:sp>
        <p:nvSpPr>
          <p:cNvPr id="7" name="TextBox 6">
            <a:extLst>
              <a:ext uri="{FF2B5EF4-FFF2-40B4-BE49-F238E27FC236}">
                <a16:creationId xmlns:a16="http://schemas.microsoft.com/office/drawing/2014/main" id="{C31870BA-7D95-4E0A-F80D-7D5D513A8EB4}"/>
              </a:ext>
            </a:extLst>
          </p:cNvPr>
          <p:cNvSpPr txBox="1"/>
          <p:nvPr/>
        </p:nvSpPr>
        <p:spPr>
          <a:xfrm>
            <a:off x="4397829" y="508000"/>
            <a:ext cx="3178628" cy="2677656"/>
          </a:xfrm>
          <a:prstGeom prst="rect">
            <a:avLst/>
          </a:prstGeom>
          <a:noFill/>
        </p:spPr>
        <p:txBody>
          <a:bodyPr wrap="square" rtlCol="0">
            <a:spAutoFit/>
          </a:bodyPr>
          <a:lstStyle/>
          <a:p>
            <a:r>
              <a:rPr lang="en-GB" sz="2400" dirty="0">
                <a:solidFill>
                  <a:schemeClr val="bg1"/>
                </a:solidFill>
              </a:rPr>
              <a:t>Highest population (3,265) are employed while the income level status of the population is on the moderate level (43.12%)</a:t>
            </a:r>
            <a:endParaRPr lang="en-GB" sz="2400" dirty="0"/>
          </a:p>
        </p:txBody>
      </p:sp>
    </p:spTree>
    <p:extLst>
      <p:ext uri="{BB962C8B-B14F-4D97-AF65-F5344CB8AC3E}">
        <p14:creationId xmlns:p14="http://schemas.microsoft.com/office/powerpoint/2010/main" val="234536248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B32C1C-21AA-CAA9-C6E5-E468D801036A}"/>
            </a:ext>
          </a:extLst>
        </p:cNvPr>
        <p:cNvGrpSpPr/>
        <p:nvPr/>
      </p:nvGrpSpPr>
      <p:grpSpPr>
        <a:xfrm>
          <a:off x="0" y="0"/>
          <a:ext cx="0" cy="0"/>
          <a:chOff x="0" y="0"/>
          <a:chExt cx="0" cy="0"/>
        </a:xfrm>
      </p:grpSpPr>
      <p:pic>
        <p:nvPicPr>
          <p:cNvPr id="3" name="Picture 2" descr="Water droplets on a leaf&#10;&#10;AI-generated content may be incorrect.">
            <a:extLst>
              <a:ext uri="{FF2B5EF4-FFF2-40B4-BE49-F238E27FC236}">
                <a16:creationId xmlns:a16="http://schemas.microsoft.com/office/drawing/2014/main" id="{734C6D08-CFC8-9E1E-FB37-018716A957F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8964"/>
            <a:ext cx="12192000" cy="6858000"/>
          </a:xfrm>
          <a:prstGeom prst="rect">
            <a:avLst/>
          </a:prstGeom>
          <a:effectLst>
            <a:outerShdw blurRad="50800" dist="38100" dir="10800000" algn="r" rotWithShape="0">
              <a:prstClr val="black">
                <a:alpha val="40000"/>
              </a:prstClr>
            </a:outerShdw>
          </a:effectLst>
        </p:spPr>
      </p:pic>
      <p:sp>
        <p:nvSpPr>
          <p:cNvPr id="11" name="Rectangle: Diagonal Corners Rounded 10">
            <a:extLst>
              <a:ext uri="{FF2B5EF4-FFF2-40B4-BE49-F238E27FC236}">
                <a16:creationId xmlns:a16="http://schemas.microsoft.com/office/drawing/2014/main" id="{D882248A-B8D2-449A-0154-1EAD268B9A19}"/>
              </a:ext>
            </a:extLst>
          </p:cNvPr>
          <p:cNvSpPr/>
          <p:nvPr/>
        </p:nvSpPr>
        <p:spPr>
          <a:xfrm>
            <a:off x="4389121" y="307115"/>
            <a:ext cx="3328416" cy="4959829"/>
          </a:xfrm>
          <a:prstGeom prst="round2DiagRect">
            <a:avLst/>
          </a:prstGeom>
          <a:noFill/>
          <a:ln>
            <a:solidFill>
              <a:schemeClr val="bg1"/>
            </a:solidFill>
          </a:ln>
          <a:effectLst>
            <a:innerShdw blurRad="63500" dist="50800" dir="2700000">
              <a:prstClr val="black">
                <a:alpha val="50000"/>
              </a:prstClr>
            </a:inn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7" name="Rectangle: Rounded Corners 16">
            <a:extLst>
              <a:ext uri="{FF2B5EF4-FFF2-40B4-BE49-F238E27FC236}">
                <a16:creationId xmlns:a16="http://schemas.microsoft.com/office/drawing/2014/main" id="{42C2EDBF-183D-C8FB-98D6-DC405302F9FD}"/>
              </a:ext>
            </a:extLst>
          </p:cNvPr>
          <p:cNvSpPr/>
          <p:nvPr/>
        </p:nvSpPr>
        <p:spPr>
          <a:xfrm>
            <a:off x="-128375" y="174424"/>
            <a:ext cx="4409915" cy="4871693"/>
          </a:xfrm>
          <a:prstGeom prst="roundRect">
            <a:avLst/>
          </a:prstGeom>
          <a:solidFill>
            <a:schemeClr val="bg1"/>
          </a:solidFill>
          <a:ln>
            <a:noFill/>
          </a:ln>
          <a:effectLst>
            <a:innerShdw blurRad="63500" dist="50800" dir="2700000">
              <a:prstClr val="black">
                <a:alpha val="50000"/>
              </a:prstClr>
            </a:inn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8" name="Rectangle: Rounded Corners 17">
            <a:extLst>
              <a:ext uri="{FF2B5EF4-FFF2-40B4-BE49-F238E27FC236}">
                <a16:creationId xmlns:a16="http://schemas.microsoft.com/office/drawing/2014/main" id="{5D98ED6D-A1F8-10CF-7D3A-033069FEBF18}"/>
              </a:ext>
            </a:extLst>
          </p:cNvPr>
          <p:cNvSpPr/>
          <p:nvPr/>
        </p:nvSpPr>
        <p:spPr>
          <a:xfrm>
            <a:off x="7825116" y="164764"/>
            <a:ext cx="4162489" cy="4871692"/>
          </a:xfrm>
          <a:prstGeom prst="roundRect">
            <a:avLst/>
          </a:prstGeom>
          <a:solidFill>
            <a:schemeClr val="bg1"/>
          </a:solidFill>
          <a:ln>
            <a:noFill/>
          </a:ln>
          <a:effectLst>
            <a:innerShdw blurRad="63500" dist="50800" dir="2700000">
              <a:prstClr val="black">
                <a:alpha val="50000"/>
              </a:prstClr>
            </a:inn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pic>
        <p:nvPicPr>
          <p:cNvPr id="6" name="Picture 5" descr="A graph of different colored squares&#10;&#10;AI-generated content may be incorrect.">
            <a:extLst>
              <a:ext uri="{FF2B5EF4-FFF2-40B4-BE49-F238E27FC236}">
                <a16:creationId xmlns:a16="http://schemas.microsoft.com/office/drawing/2014/main" id="{B97338B5-1133-C951-C166-61E63831FD0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4028" y="466164"/>
            <a:ext cx="4165281" cy="4093428"/>
          </a:xfrm>
          <a:prstGeom prst="rect">
            <a:avLst/>
          </a:prstGeom>
        </p:spPr>
      </p:pic>
      <p:sp>
        <p:nvSpPr>
          <p:cNvPr id="2" name="TextBox 1">
            <a:extLst>
              <a:ext uri="{FF2B5EF4-FFF2-40B4-BE49-F238E27FC236}">
                <a16:creationId xmlns:a16="http://schemas.microsoft.com/office/drawing/2014/main" id="{FCAA675A-4A96-BFDD-E5A5-C7BA3A32D6E4}"/>
              </a:ext>
            </a:extLst>
          </p:cNvPr>
          <p:cNvSpPr txBox="1"/>
          <p:nvPr/>
        </p:nvSpPr>
        <p:spPr>
          <a:xfrm>
            <a:off x="4281541" y="466164"/>
            <a:ext cx="3435995" cy="4462760"/>
          </a:xfrm>
          <a:prstGeom prst="rect">
            <a:avLst/>
          </a:prstGeom>
          <a:noFill/>
        </p:spPr>
        <p:txBody>
          <a:bodyPr wrap="square" rtlCol="0">
            <a:spAutoFit/>
          </a:bodyPr>
          <a:lstStyle/>
          <a:p>
            <a:pPr marL="342900" indent="-342900">
              <a:buFont typeface="Wingdings" panose="05000000000000000000" pitchFamily="2" charset="2"/>
              <a:buChar char="Ø"/>
            </a:pPr>
            <a:r>
              <a:rPr lang="en-GB" sz="2400" dirty="0">
                <a:solidFill>
                  <a:schemeClr val="bg1"/>
                </a:solidFill>
              </a:rPr>
              <a:t>The Child age group is found to experience less chronic diseases compared to other age group ( Adult and elderly).</a:t>
            </a:r>
          </a:p>
          <a:p>
            <a:pPr marL="342900" indent="-342900">
              <a:buFont typeface="Wingdings" panose="05000000000000000000" pitchFamily="2" charset="2"/>
              <a:buChar char="Ø"/>
            </a:pPr>
            <a:endParaRPr lang="en-GB" sz="2400" dirty="0">
              <a:solidFill>
                <a:schemeClr val="bg1"/>
              </a:solidFill>
            </a:endParaRPr>
          </a:p>
          <a:p>
            <a:pPr marL="342900" indent="-342900">
              <a:buFont typeface="Wingdings" panose="05000000000000000000" pitchFamily="2" charset="2"/>
              <a:buChar char="Ø"/>
            </a:pPr>
            <a:r>
              <a:rPr lang="en-GB" sz="2400" dirty="0">
                <a:solidFill>
                  <a:schemeClr val="bg1"/>
                </a:solidFill>
              </a:rPr>
              <a:t>The population with a stable housing status experience more chronic diseases</a:t>
            </a:r>
          </a:p>
          <a:p>
            <a:endParaRPr lang="en-GB" sz="2000" dirty="0">
              <a:solidFill>
                <a:schemeClr val="bg1"/>
              </a:solidFill>
            </a:endParaRPr>
          </a:p>
        </p:txBody>
      </p:sp>
      <p:pic>
        <p:nvPicPr>
          <p:cNvPr id="4" name="Picture 3" descr="A graph of different colored squares&#10;&#10;AI-generated content may be incorrect.">
            <a:extLst>
              <a:ext uri="{FF2B5EF4-FFF2-40B4-BE49-F238E27FC236}">
                <a16:creationId xmlns:a16="http://schemas.microsoft.com/office/drawing/2014/main" id="{3A2B9F13-5F44-9F59-2DC3-63240C57816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985402" y="466164"/>
            <a:ext cx="3841915" cy="4222012"/>
          </a:xfrm>
          <a:prstGeom prst="rect">
            <a:avLst/>
          </a:prstGeom>
        </p:spPr>
      </p:pic>
    </p:spTree>
    <p:extLst>
      <p:ext uri="{BB962C8B-B14F-4D97-AF65-F5344CB8AC3E}">
        <p14:creationId xmlns:p14="http://schemas.microsoft.com/office/powerpoint/2010/main" val="418983511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7C637B-4CF9-9243-0F39-5C4FE22B1353}"/>
            </a:ext>
          </a:extLst>
        </p:cNvPr>
        <p:cNvGrpSpPr/>
        <p:nvPr/>
      </p:nvGrpSpPr>
      <p:grpSpPr>
        <a:xfrm>
          <a:off x="0" y="0"/>
          <a:ext cx="0" cy="0"/>
          <a:chOff x="0" y="0"/>
          <a:chExt cx="0" cy="0"/>
        </a:xfrm>
      </p:grpSpPr>
      <p:pic>
        <p:nvPicPr>
          <p:cNvPr id="3" name="Picture 2" descr="Water droplets on a leaf&#10;&#10;AI-generated content may be incorrect.">
            <a:extLst>
              <a:ext uri="{FF2B5EF4-FFF2-40B4-BE49-F238E27FC236}">
                <a16:creationId xmlns:a16="http://schemas.microsoft.com/office/drawing/2014/main" id="{45D0B5AB-C8B1-F1C3-E366-7BC73C97B39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944" y="0"/>
            <a:ext cx="12192000" cy="6858000"/>
          </a:xfrm>
          <a:prstGeom prst="rect">
            <a:avLst/>
          </a:prstGeom>
          <a:effectLst>
            <a:outerShdw blurRad="50800" dist="38100" dir="10800000" algn="r" rotWithShape="0">
              <a:prstClr val="black">
                <a:alpha val="40000"/>
              </a:prstClr>
            </a:outerShdw>
          </a:effectLst>
        </p:spPr>
      </p:pic>
      <p:sp>
        <p:nvSpPr>
          <p:cNvPr id="11" name="Rectangle: Diagonal Corners Rounded 10">
            <a:extLst>
              <a:ext uri="{FF2B5EF4-FFF2-40B4-BE49-F238E27FC236}">
                <a16:creationId xmlns:a16="http://schemas.microsoft.com/office/drawing/2014/main" id="{8D990924-73F9-CFE0-ED72-0711666A8E93}"/>
              </a:ext>
            </a:extLst>
          </p:cNvPr>
          <p:cNvSpPr/>
          <p:nvPr/>
        </p:nvSpPr>
        <p:spPr>
          <a:xfrm>
            <a:off x="4551113" y="232180"/>
            <a:ext cx="3199771" cy="5601728"/>
          </a:xfrm>
          <a:prstGeom prst="round2DiagRect">
            <a:avLst/>
          </a:prstGeom>
          <a:noFill/>
          <a:ln>
            <a:solidFill>
              <a:schemeClr val="bg1"/>
            </a:solidFill>
          </a:ln>
          <a:effectLst>
            <a:innerShdw blurRad="63500" dist="50800" dir="2700000">
              <a:prstClr val="black">
                <a:alpha val="50000"/>
              </a:prstClr>
            </a:inn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7" name="Rectangle: Rounded Corners 16">
            <a:extLst>
              <a:ext uri="{FF2B5EF4-FFF2-40B4-BE49-F238E27FC236}">
                <a16:creationId xmlns:a16="http://schemas.microsoft.com/office/drawing/2014/main" id="{623E19C0-92A6-BA1A-CB31-D1B448270006}"/>
              </a:ext>
            </a:extLst>
          </p:cNvPr>
          <p:cNvSpPr/>
          <p:nvPr/>
        </p:nvSpPr>
        <p:spPr>
          <a:xfrm>
            <a:off x="197224" y="291070"/>
            <a:ext cx="4156666" cy="5601729"/>
          </a:xfrm>
          <a:prstGeom prst="roundRect">
            <a:avLst/>
          </a:prstGeom>
          <a:solidFill>
            <a:schemeClr val="bg1"/>
          </a:solidFill>
          <a:ln>
            <a:noFill/>
          </a:ln>
          <a:effectLst>
            <a:outerShdw blurRad="50800" dist="38100" dir="13500000" algn="b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8" name="Rectangle: Rounded Corners 17">
            <a:extLst>
              <a:ext uri="{FF2B5EF4-FFF2-40B4-BE49-F238E27FC236}">
                <a16:creationId xmlns:a16="http://schemas.microsoft.com/office/drawing/2014/main" id="{95669056-1A71-21C3-267C-35F68609C157}"/>
              </a:ext>
            </a:extLst>
          </p:cNvPr>
          <p:cNvSpPr/>
          <p:nvPr/>
        </p:nvSpPr>
        <p:spPr>
          <a:xfrm>
            <a:off x="7857144" y="310786"/>
            <a:ext cx="4334855" cy="5601728"/>
          </a:xfrm>
          <a:prstGeom prst="roundRect">
            <a:avLst/>
          </a:prstGeom>
          <a:solidFill>
            <a:schemeClr val="bg1"/>
          </a:solidFill>
          <a:ln>
            <a:noFill/>
          </a:ln>
          <a:effectLst>
            <a:outerShdw blurRad="50800" dist="38100" dir="13500000" algn="b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4" name="Picture 3" descr="A graph of different colored squares&#10;&#10;AI-generated content may be incorrect.">
            <a:extLst>
              <a:ext uri="{FF2B5EF4-FFF2-40B4-BE49-F238E27FC236}">
                <a16:creationId xmlns:a16="http://schemas.microsoft.com/office/drawing/2014/main" id="{6490FF8D-DB83-8CE5-5C29-C1A57DC1276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78034" y="679489"/>
            <a:ext cx="3841426" cy="4824890"/>
          </a:xfrm>
          <a:prstGeom prst="rect">
            <a:avLst/>
          </a:prstGeom>
        </p:spPr>
      </p:pic>
      <p:pic>
        <p:nvPicPr>
          <p:cNvPr id="7" name="Picture 6" descr="A comparison of a number of colored squares&#10;&#10;AI-generated content may be incorrect.">
            <a:extLst>
              <a:ext uri="{FF2B5EF4-FFF2-40B4-BE49-F238E27FC236}">
                <a16:creationId xmlns:a16="http://schemas.microsoft.com/office/drawing/2014/main" id="{2B1398D1-7324-B902-A1BD-78F7983416F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963405" y="648404"/>
            <a:ext cx="4031371" cy="4926492"/>
          </a:xfrm>
          <a:prstGeom prst="rect">
            <a:avLst/>
          </a:prstGeom>
        </p:spPr>
      </p:pic>
      <p:sp>
        <p:nvSpPr>
          <p:cNvPr id="2" name="TextBox 1">
            <a:extLst>
              <a:ext uri="{FF2B5EF4-FFF2-40B4-BE49-F238E27FC236}">
                <a16:creationId xmlns:a16="http://schemas.microsoft.com/office/drawing/2014/main" id="{1A9A5948-C233-E517-F63A-B64167FF7051}"/>
              </a:ext>
            </a:extLst>
          </p:cNvPr>
          <p:cNvSpPr txBox="1"/>
          <p:nvPr/>
        </p:nvSpPr>
        <p:spPr>
          <a:xfrm>
            <a:off x="4551114" y="394288"/>
            <a:ext cx="3306031" cy="5170646"/>
          </a:xfrm>
          <a:prstGeom prst="rect">
            <a:avLst/>
          </a:prstGeom>
          <a:noFill/>
          <a:ln>
            <a:noFill/>
          </a:ln>
        </p:spPr>
        <p:txBody>
          <a:bodyPr wrap="square" rtlCol="0">
            <a:spAutoFit/>
          </a:bodyPr>
          <a:lstStyle/>
          <a:p>
            <a:pPr marL="285750" indent="-285750">
              <a:buFont typeface="Wingdings" panose="05000000000000000000" pitchFamily="2" charset="2"/>
              <a:buChar char="Ø"/>
            </a:pPr>
            <a:r>
              <a:rPr lang="en-GB" sz="2200" dirty="0">
                <a:solidFill>
                  <a:schemeClr val="bg1"/>
                </a:solidFill>
              </a:rPr>
              <a:t>The Unemployed(Below working Age) population is found to experience less chronic diseases compared to other employment status ( Employed, Retired, Unemployed).</a:t>
            </a:r>
          </a:p>
          <a:p>
            <a:pPr marL="285750" indent="-285750">
              <a:buFont typeface="Wingdings" panose="05000000000000000000" pitchFamily="2" charset="2"/>
              <a:buChar char="Ø"/>
            </a:pPr>
            <a:endParaRPr lang="en-GB" sz="2200" dirty="0">
              <a:solidFill>
                <a:schemeClr val="bg1"/>
              </a:solidFill>
            </a:endParaRPr>
          </a:p>
          <a:p>
            <a:pPr marL="285750" indent="-285750">
              <a:buFont typeface="Wingdings" panose="05000000000000000000" pitchFamily="2" charset="2"/>
              <a:buChar char="Ø"/>
            </a:pPr>
            <a:r>
              <a:rPr lang="en-GB" sz="2200" dirty="0">
                <a:solidFill>
                  <a:schemeClr val="bg1"/>
                </a:solidFill>
              </a:rPr>
              <a:t>More Female experience chronic diseases than the Male</a:t>
            </a:r>
          </a:p>
          <a:p>
            <a:endParaRPr lang="en-GB" sz="2200" dirty="0"/>
          </a:p>
        </p:txBody>
      </p:sp>
    </p:spTree>
    <p:extLst>
      <p:ext uri="{BB962C8B-B14F-4D97-AF65-F5344CB8AC3E}">
        <p14:creationId xmlns:p14="http://schemas.microsoft.com/office/powerpoint/2010/main" val="313620345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E0B156-0967-77D5-6304-6FAB7A0C0136}"/>
            </a:ext>
          </a:extLst>
        </p:cNvPr>
        <p:cNvGrpSpPr/>
        <p:nvPr/>
      </p:nvGrpSpPr>
      <p:grpSpPr>
        <a:xfrm>
          <a:off x="0" y="0"/>
          <a:ext cx="0" cy="0"/>
          <a:chOff x="0" y="0"/>
          <a:chExt cx="0" cy="0"/>
        </a:xfrm>
      </p:grpSpPr>
      <p:pic>
        <p:nvPicPr>
          <p:cNvPr id="3" name="Picture 2" descr="Water droplets on a leaf&#10;&#10;AI-generated content may be incorrect.">
            <a:extLst>
              <a:ext uri="{FF2B5EF4-FFF2-40B4-BE49-F238E27FC236}">
                <a16:creationId xmlns:a16="http://schemas.microsoft.com/office/drawing/2014/main" id="{824AEA26-2283-C5E7-0046-8FC22681DF9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a:effectLst>
            <a:outerShdw blurRad="50800" dist="38100" dir="10800000" algn="r" rotWithShape="0">
              <a:prstClr val="black">
                <a:alpha val="40000"/>
              </a:prstClr>
            </a:outerShdw>
          </a:effectLst>
        </p:spPr>
      </p:pic>
      <p:sp>
        <p:nvSpPr>
          <p:cNvPr id="11" name="Rectangle: Diagonal Corners Rounded 10">
            <a:extLst>
              <a:ext uri="{FF2B5EF4-FFF2-40B4-BE49-F238E27FC236}">
                <a16:creationId xmlns:a16="http://schemas.microsoft.com/office/drawing/2014/main" id="{E8B12E81-5B5D-F81E-2CAC-10732B15A31D}"/>
              </a:ext>
            </a:extLst>
          </p:cNvPr>
          <p:cNvSpPr/>
          <p:nvPr/>
        </p:nvSpPr>
        <p:spPr>
          <a:xfrm>
            <a:off x="4154832" y="120380"/>
            <a:ext cx="3562006" cy="4872534"/>
          </a:xfrm>
          <a:prstGeom prst="round2DiagRect">
            <a:avLst/>
          </a:prstGeom>
          <a:noFill/>
          <a:ln>
            <a:solidFill>
              <a:schemeClr val="bg1"/>
            </a:solidFill>
          </a:ln>
          <a:effectLst>
            <a:innerShdw blurRad="63500" dist="50800" dir="2700000">
              <a:prstClr val="black">
                <a:alpha val="50000"/>
              </a:prstClr>
            </a:inn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7" name="Rectangle: Rounded Corners 16">
            <a:extLst>
              <a:ext uri="{FF2B5EF4-FFF2-40B4-BE49-F238E27FC236}">
                <a16:creationId xmlns:a16="http://schemas.microsoft.com/office/drawing/2014/main" id="{A5FC58EC-65B1-74E4-A619-D3E2D6C99C27}"/>
              </a:ext>
            </a:extLst>
          </p:cNvPr>
          <p:cNvSpPr/>
          <p:nvPr/>
        </p:nvSpPr>
        <p:spPr>
          <a:xfrm>
            <a:off x="197224" y="291070"/>
            <a:ext cx="3829722" cy="5282415"/>
          </a:xfrm>
          <a:prstGeom prst="roundRect">
            <a:avLst/>
          </a:prstGeom>
          <a:solidFill>
            <a:schemeClr val="bg1"/>
          </a:solidFill>
          <a:ln>
            <a:noFill/>
          </a:ln>
          <a:effectLst>
            <a:outerShdw blurRad="50800" dist="38100" dir="13500000" algn="b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8" name="Rectangle: Rounded Corners 17">
            <a:extLst>
              <a:ext uri="{FF2B5EF4-FFF2-40B4-BE49-F238E27FC236}">
                <a16:creationId xmlns:a16="http://schemas.microsoft.com/office/drawing/2014/main" id="{C8CBBFEB-2265-E942-97B6-3F5D2C902FC2}"/>
              </a:ext>
            </a:extLst>
          </p:cNvPr>
          <p:cNvSpPr/>
          <p:nvPr/>
        </p:nvSpPr>
        <p:spPr>
          <a:xfrm>
            <a:off x="7892546" y="291071"/>
            <a:ext cx="4102230" cy="5282414"/>
          </a:xfrm>
          <a:prstGeom prst="roundRect">
            <a:avLst/>
          </a:prstGeom>
          <a:solidFill>
            <a:schemeClr val="bg1"/>
          </a:solidFill>
          <a:ln>
            <a:noFill/>
          </a:ln>
          <a:effectLst>
            <a:outerShdw blurRad="50800" dist="38100" dir="13500000" algn="b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2" name="Picture 1" descr="A close-up of a graph&#10;&#10;AI-generated content may be incorrect.">
            <a:extLst>
              <a:ext uri="{FF2B5EF4-FFF2-40B4-BE49-F238E27FC236}">
                <a16:creationId xmlns:a16="http://schemas.microsoft.com/office/drawing/2014/main" id="{5D327065-EA2D-3637-5A12-9E2002134BC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89050" y="516367"/>
            <a:ext cx="3462188" cy="4476547"/>
          </a:xfrm>
          <a:prstGeom prst="rect">
            <a:avLst/>
          </a:prstGeom>
        </p:spPr>
      </p:pic>
      <p:sp>
        <p:nvSpPr>
          <p:cNvPr id="4" name="TextBox 3">
            <a:extLst>
              <a:ext uri="{FF2B5EF4-FFF2-40B4-BE49-F238E27FC236}">
                <a16:creationId xmlns:a16="http://schemas.microsoft.com/office/drawing/2014/main" id="{1AD6764C-6ABE-E107-2494-569F4E801423}"/>
              </a:ext>
            </a:extLst>
          </p:cNvPr>
          <p:cNvSpPr txBox="1"/>
          <p:nvPr/>
        </p:nvSpPr>
        <p:spPr>
          <a:xfrm>
            <a:off x="4218772" y="559629"/>
            <a:ext cx="3689891" cy="4093428"/>
          </a:xfrm>
          <a:prstGeom prst="rect">
            <a:avLst/>
          </a:prstGeom>
          <a:noFill/>
        </p:spPr>
        <p:txBody>
          <a:bodyPr wrap="square" rtlCol="0">
            <a:spAutoFit/>
          </a:bodyPr>
          <a:lstStyle/>
          <a:p>
            <a:pPr marL="342900" indent="-342900">
              <a:buFont typeface="Wingdings" panose="05000000000000000000" pitchFamily="2" charset="2"/>
              <a:buChar char="Ø"/>
            </a:pPr>
            <a:r>
              <a:rPr lang="en-GB" sz="2200" dirty="0">
                <a:solidFill>
                  <a:schemeClr val="bg1"/>
                </a:solidFill>
              </a:rPr>
              <a:t>The population with Low and moderate health literacy experience more chronic diseases.</a:t>
            </a:r>
          </a:p>
          <a:p>
            <a:endParaRPr lang="en-GB" sz="2200" dirty="0">
              <a:solidFill>
                <a:schemeClr val="bg1"/>
              </a:solidFill>
            </a:endParaRPr>
          </a:p>
          <a:p>
            <a:pPr marL="342900" indent="-342900">
              <a:buFont typeface="Wingdings" panose="05000000000000000000" pitchFamily="2" charset="2"/>
              <a:buChar char="Ø"/>
            </a:pPr>
            <a:r>
              <a:rPr lang="en-GB" sz="2200" dirty="0">
                <a:solidFill>
                  <a:schemeClr val="bg1"/>
                </a:solidFill>
              </a:rPr>
              <a:t>The population with primary and secondary educational status experience more chronic diseases compared to other status( Tertiary)</a:t>
            </a:r>
          </a:p>
          <a:p>
            <a:endParaRPr lang="en-GB" dirty="0"/>
          </a:p>
        </p:txBody>
      </p:sp>
      <p:pic>
        <p:nvPicPr>
          <p:cNvPr id="8" name="Picture 7" descr="A screenshot of a graph&#10;&#10;AI-generated content may be incorrect.">
            <a:extLst>
              <a:ext uri="{FF2B5EF4-FFF2-40B4-BE49-F238E27FC236}">
                <a16:creationId xmlns:a16="http://schemas.microsoft.com/office/drawing/2014/main" id="{18111DF6-898F-4239-EFC5-C6827FFC077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209895" y="444813"/>
            <a:ext cx="3593055" cy="4548101"/>
          </a:xfrm>
          <a:prstGeom prst="rect">
            <a:avLst/>
          </a:prstGeom>
        </p:spPr>
      </p:pic>
    </p:spTree>
    <p:extLst>
      <p:ext uri="{BB962C8B-B14F-4D97-AF65-F5344CB8AC3E}">
        <p14:creationId xmlns:p14="http://schemas.microsoft.com/office/powerpoint/2010/main" val="207954503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3F2073-3A01-157A-B473-97EE4ED97E00}"/>
            </a:ext>
          </a:extLst>
        </p:cNvPr>
        <p:cNvGrpSpPr/>
        <p:nvPr/>
      </p:nvGrpSpPr>
      <p:grpSpPr>
        <a:xfrm>
          <a:off x="0" y="0"/>
          <a:ext cx="0" cy="0"/>
          <a:chOff x="0" y="0"/>
          <a:chExt cx="0" cy="0"/>
        </a:xfrm>
      </p:grpSpPr>
      <p:pic>
        <p:nvPicPr>
          <p:cNvPr id="3" name="Picture 2" descr="Water droplets on a leaf&#10;&#10;AI-generated content may be incorrect.">
            <a:extLst>
              <a:ext uri="{FF2B5EF4-FFF2-40B4-BE49-F238E27FC236}">
                <a16:creationId xmlns:a16="http://schemas.microsoft.com/office/drawing/2014/main" id="{BD8DF5BF-0A2E-03E3-397B-58DC811BD40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a:effectLst>
            <a:outerShdw blurRad="50800" dist="38100" dir="10800000" algn="r" rotWithShape="0">
              <a:prstClr val="black">
                <a:alpha val="40000"/>
              </a:prstClr>
            </a:outerShdw>
          </a:effectLst>
        </p:spPr>
      </p:pic>
      <p:sp>
        <p:nvSpPr>
          <p:cNvPr id="11" name="Rectangle: Diagonal Corners Rounded 10">
            <a:extLst>
              <a:ext uri="{FF2B5EF4-FFF2-40B4-BE49-F238E27FC236}">
                <a16:creationId xmlns:a16="http://schemas.microsoft.com/office/drawing/2014/main" id="{0DE06837-E7DC-0C6B-18AF-1CC4D956FD39}"/>
              </a:ext>
            </a:extLst>
          </p:cNvPr>
          <p:cNvSpPr/>
          <p:nvPr/>
        </p:nvSpPr>
        <p:spPr>
          <a:xfrm>
            <a:off x="4154201" y="352609"/>
            <a:ext cx="3596684" cy="4495162"/>
          </a:xfrm>
          <a:prstGeom prst="round2DiagRect">
            <a:avLst/>
          </a:prstGeom>
          <a:noFill/>
          <a:ln>
            <a:solidFill>
              <a:schemeClr val="bg1"/>
            </a:solidFill>
          </a:ln>
          <a:effectLst>
            <a:innerShdw blurRad="63500" dist="50800" dir="2700000">
              <a:prstClr val="black">
                <a:alpha val="50000"/>
              </a:prstClr>
            </a:inn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7" name="Rectangle: Rounded Corners 16">
            <a:extLst>
              <a:ext uri="{FF2B5EF4-FFF2-40B4-BE49-F238E27FC236}">
                <a16:creationId xmlns:a16="http://schemas.microsoft.com/office/drawing/2014/main" id="{8FAB1051-DECD-3156-4288-7838949C5214}"/>
              </a:ext>
            </a:extLst>
          </p:cNvPr>
          <p:cNvSpPr/>
          <p:nvPr/>
        </p:nvSpPr>
        <p:spPr>
          <a:xfrm>
            <a:off x="116551" y="291070"/>
            <a:ext cx="3829722" cy="5209843"/>
          </a:xfrm>
          <a:prstGeom prst="roundRect">
            <a:avLst/>
          </a:prstGeom>
          <a:solidFill>
            <a:schemeClr val="bg1"/>
          </a:solidFill>
          <a:ln>
            <a:noFill/>
          </a:ln>
          <a:effectLst>
            <a:outerShdw blurRad="50800" dist="38100" dir="13500000" algn="b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8" name="Rectangle: Rounded Corners 17">
            <a:extLst>
              <a:ext uri="{FF2B5EF4-FFF2-40B4-BE49-F238E27FC236}">
                <a16:creationId xmlns:a16="http://schemas.microsoft.com/office/drawing/2014/main" id="{A65E2659-DF95-0C9D-CC2D-B0D16442FCF5}"/>
              </a:ext>
            </a:extLst>
          </p:cNvPr>
          <p:cNvSpPr/>
          <p:nvPr/>
        </p:nvSpPr>
        <p:spPr>
          <a:xfrm>
            <a:off x="7892546" y="291071"/>
            <a:ext cx="3910404" cy="5209842"/>
          </a:xfrm>
          <a:prstGeom prst="roundRect">
            <a:avLst/>
          </a:prstGeom>
          <a:solidFill>
            <a:schemeClr val="bg1"/>
          </a:solidFill>
          <a:ln>
            <a:noFill/>
          </a:ln>
          <a:effectLst>
            <a:outerShdw blurRad="50800" dist="38100" dir="13500000" algn="b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2" name="Picture 1" descr="A graph of different colored squares&#10;&#10;AI-generated content may be incorrect.">
            <a:extLst>
              <a:ext uri="{FF2B5EF4-FFF2-40B4-BE49-F238E27FC236}">
                <a16:creationId xmlns:a16="http://schemas.microsoft.com/office/drawing/2014/main" id="{A2D99658-D62C-E77A-482D-7C07C3E470C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89050" y="485379"/>
            <a:ext cx="3354611" cy="4551078"/>
          </a:xfrm>
          <a:prstGeom prst="rect">
            <a:avLst/>
          </a:prstGeom>
        </p:spPr>
      </p:pic>
      <p:pic>
        <p:nvPicPr>
          <p:cNvPr id="5" name="Picture 4" descr="A close-up of a graph&#10;&#10;AI-generated content may be incorrect.">
            <a:extLst>
              <a:ext uri="{FF2B5EF4-FFF2-40B4-BE49-F238E27FC236}">
                <a16:creationId xmlns:a16="http://schemas.microsoft.com/office/drawing/2014/main" id="{CDF39515-D3E0-1577-4DD1-9C305576181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055669" y="556885"/>
            <a:ext cx="3641489" cy="4290886"/>
          </a:xfrm>
          <a:prstGeom prst="rect">
            <a:avLst/>
          </a:prstGeom>
        </p:spPr>
      </p:pic>
      <p:sp>
        <p:nvSpPr>
          <p:cNvPr id="4" name="TextBox 3">
            <a:extLst>
              <a:ext uri="{FF2B5EF4-FFF2-40B4-BE49-F238E27FC236}">
                <a16:creationId xmlns:a16="http://schemas.microsoft.com/office/drawing/2014/main" id="{79B2B508-20F8-D6F2-AE13-CE99F38A0A52}"/>
              </a:ext>
            </a:extLst>
          </p:cNvPr>
          <p:cNvSpPr txBox="1"/>
          <p:nvPr/>
        </p:nvSpPr>
        <p:spPr>
          <a:xfrm>
            <a:off x="4299455" y="595086"/>
            <a:ext cx="3309806" cy="4062651"/>
          </a:xfrm>
          <a:prstGeom prst="rect">
            <a:avLst/>
          </a:prstGeom>
          <a:noFill/>
        </p:spPr>
        <p:txBody>
          <a:bodyPr wrap="square" rtlCol="0">
            <a:spAutoFit/>
          </a:bodyPr>
          <a:lstStyle/>
          <a:p>
            <a:pPr marL="342900" indent="-342900">
              <a:buFont typeface="Wingdings" panose="05000000000000000000" pitchFamily="2" charset="2"/>
              <a:buChar char="Ø"/>
            </a:pPr>
            <a:r>
              <a:rPr lang="en-GB" sz="2400" dirty="0">
                <a:solidFill>
                  <a:schemeClr val="bg1"/>
                </a:solidFill>
              </a:rPr>
              <a:t>The population with low-income level experience less chronic diseases.</a:t>
            </a:r>
          </a:p>
          <a:p>
            <a:endParaRPr lang="en-GB" sz="2400" dirty="0">
              <a:solidFill>
                <a:schemeClr val="bg1"/>
              </a:solidFill>
            </a:endParaRPr>
          </a:p>
          <a:p>
            <a:pPr marL="342900" indent="-342900">
              <a:buFont typeface="Wingdings" panose="05000000000000000000" pitchFamily="2" charset="2"/>
              <a:buChar char="Ø"/>
            </a:pPr>
            <a:r>
              <a:rPr lang="en-GB" sz="2400" dirty="0">
                <a:solidFill>
                  <a:schemeClr val="bg1"/>
                </a:solidFill>
              </a:rPr>
              <a:t>The population with poor transport access experience more chronic disease.</a:t>
            </a:r>
          </a:p>
          <a:p>
            <a:endParaRPr lang="en-GB" dirty="0"/>
          </a:p>
        </p:txBody>
      </p:sp>
    </p:spTree>
    <p:extLst>
      <p:ext uri="{BB962C8B-B14F-4D97-AF65-F5344CB8AC3E}">
        <p14:creationId xmlns:p14="http://schemas.microsoft.com/office/powerpoint/2010/main" val="126383912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C5EB96-404E-D2F1-9203-CA4B5A784BF6}"/>
            </a:ext>
          </a:extLst>
        </p:cNvPr>
        <p:cNvGrpSpPr/>
        <p:nvPr/>
      </p:nvGrpSpPr>
      <p:grpSpPr>
        <a:xfrm>
          <a:off x="0" y="0"/>
          <a:ext cx="0" cy="0"/>
          <a:chOff x="0" y="0"/>
          <a:chExt cx="0" cy="0"/>
        </a:xfrm>
      </p:grpSpPr>
      <p:pic>
        <p:nvPicPr>
          <p:cNvPr id="3" name="Picture 2" descr="Water droplets on a leaf&#10;&#10;AI-generated content may be incorrect.">
            <a:extLst>
              <a:ext uri="{FF2B5EF4-FFF2-40B4-BE49-F238E27FC236}">
                <a16:creationId xmlns:a16="http://schemas.microsoft.com/office/drawing/2014/main" id="{68A6EFA5-1878-ADBD-2261-FA905C3465D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Rectangle: Rounded Corners 1">
            <a:extLst>
              <a:ext uri="{FF2B5EF4-FFF2-40B4-BE49-F238E27FC236}">
                <a16:creationId xmlns:a16="http://schemas.microsoft.com/office/drawing/2014/main" id="{7E9D84AB-A342-E244-B4E9-47A4FA22BC8C}"/>
              </a:ext>
            </a:extLst>
          </p:cNvPr>
          <p:cNvSpPr/>
          <p:nvPr/>
        </p:nvSpPr>
        <p:spPr>
          <a:xfrm>
            <a:off x="203200" y="435428"/>
            <a:ext cx="11684000" cy="5965371"/>
          </a:xfrm>
          <a:prstGeom prst="roundRect">
            <a:avLst/>
          </a:pr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 name="TextBox 3">
            <a:extLst>
              <a:ext uri="{FF2B5EF4-FFF2-40B4-BE49-F238E27FC236}">
                <a16:creationId xmlns:a16="http://schemas.microsoft.com/office/drawing/2014/main" id="{476357AC-B712-B4DC-845B-20D60927DE25}"/>
              </a:ext>
            </a:extLst>
          </p:cNvPr>
          <p:cNvSpPr txBox="1"/>
          <p:nvPr/>
        </p:nvSpPr>
        <p:spPr>
          <a:xfrm>
            <a:off x="580572" y="769257"/>
            <a:ext cx="10972800" cy="5201424"/>
          </a:xfrm>
          <a:prstGeom prst="rect">
            <a:avLst/>
          </a:prstGeom>
          <a:noFill/>
        </p:spPr>
        <p:txBody>
          <a:bodyPr wrap="square" rtlCol="0">
            <a:spAutoFit/>
          </a:bodyPr>
          <a:lstStyle/>
          <a:p>
            <a:pPr algn="ctr"/>
            <a:r>
              <a:rPr lang="en-GB" sz="4000" b="1" dirty="0">
                <a:solidFill>
                  <a:schemeClr val="bg1"/>
                </a:solidFill>
              </a:rPr>
              <a:t>KEY OBSERVATIONS 1</a:t>
            </a:r>
          </a:p>
          <a:p>
            <a:endParaRPr lang="en-GB" dirty="0">
              <a:solidFill>
                <a:schemeClr val="bg1"/>
              </a:solidFill>
            </a:endParaRPr>
          </a:p>
          <a:p>
            <a:pPr marL="285750" lvl="0" indent="-285750">
              <a:buFont typeface="Arial" panose="020B0604020202020204" pitchFamily="34" charset="0"/>
              <a:buChar char="•"/>
            </a:pPr>
            <a:r>
              <a:rPr lang="en-GB" sz="3200" dirty="0">
                <a:solidFill>
                  <a:schemeClr val="bg1"/>
                </a:solidFill>
              </a:rPr>
              <a:t>The largest population segment has </a:t>
            </a:r>
            <a:r>
              <a:rPr lang="en-GB" sz="3200" b="1" dirty="0">
                <a:solidFill>
                  <a:schemeClr val="bg1"/>
                </a:solidFill>
              </a:rPr>
              <a:t>only primary education</a:t>
            </a:r>
            <a:r>
              <a:rPr lang="en-GB" sz="3200" dirty="0">
                <a:solidFill>
                  <a:schemeClr val="bg1"/>
                </a:solidFill>
              </a:rPr>
              <a:t>, contributing to </a:t>
            </a:r>
            <a:r>
              <a:rPr lang="en-GB" sz="3200" b="1" dirty="0">
                <a:solidFill>
                  <a:schemeClr val="bg1"/>
                </a:solidFill>
              </a:rPr>
              <a:t>low health literacy (40.68%)</a:t>
            </a:r>
            <a:r>
              <a:rPr lang="en-GB" sz="3200" dirty="0">
                <a:solidFill>
                  <a:schemeClr val="bg1"/>
                </a:solidFill>
              </a:rPr>
              <a:t>.</a:t>
            </a:r>
          </a:p>
          <a:p>
            <a:pPr lvl="0"/>
            <a:endParaRPr lang="en-GB" sz="3200" dirty="0">
              <a:solidFill>
                <a:schemeClr val="bg1"/>
              </a:solidFill>
            </a:endParaRPr>
          </a:p>
          <a:p>
            <a:pPr marL="285750" lvl="0" indent="-285750">
              <a:buFont typeface="Arial" panose="020B0604020202020204" pitchFamily="34" charset="0"/>
              <a:buChar char="•"/>
            </a:pPr>
            <a:r>
              <a:rPr lang="en-GB" sz="3200" dirty="0">
                <a:solidFill>
                  <a:schemeClr val="bg1"/>
                </a:solidFill>
              </a:rPr>
              <a:t>Populations with </a:t>
            </a:r>
            <a:r>
              <a:rPr lang="en-GB" sz="3200" b="1" dirty="0">
                <a:solidFill>
                  <a:schemeClr val="bg1"/>
                </a:solidFill>
              </a:rPr>
              <a:t>low and moderate health literacy</a:t>
            </a:r>
            <a:r>
              <a:rPr lang="en-GB" sz="3200" dirty="0">
                <a:solidFill>
                  <a:schemeClr val="bg1"/>
                </a:solidFill>
              </a:rPr>
              <a:t> experience </a:t>
            </a:r>
            <a:r>
              <a:rPr lang="en-GB" sz="3200" b="1" dirty="0">
                <a:solidFill>
                  <a:schemeClr val="bg1"/>
                </a:solidFill>
              </a:rPr>
              <a:t>higher rates of chronic diseases</a:t>
            </a:r>
            <a:r>
              <a:rPr lang="en-GB" sz="3200" dirty="0">
                <a:solidFill>
                  <a:schemeClr val="bg1"/>
                </a:solidFill>
              </a:rPr>
              <a:t>.</a:t>
            </a:r>
          </a:p>
          <a:p>
            <a:pPr lvl="0"/>
            <a:endParaRPr lang="en-GB" sz="3200" dirty="0">
              <a:solidFill>
                <a:schemeClr val="bg1"/>
              </a:solidFill>
            </a:endParaRPr>
          </a:p>
          <a:p>
            <a:pPr marL="285750" lvl="0" indent="-285750">
              <a:buFont typeface="Arial" panose="020B0604020202020204" pitchFamily="34" charset="0"/>
              <a:buChar char="•"/>
            </a:pPr>
            <a:r>
              <a:rPr lang="en-GB" sz="3200" dirty="0">
                <a:solidFill>
                  <a:schemeClr val="bg1"/>
                </a:solidFill>
              </a:rPr>
              <a:t>Individuals with </a:t>
            </a:r>
            <a:r>
              <a:rPr lang="en-GB" sz="3200" b="1" dirty="0">
                <a:solidFill>
                  <a:schemeClr val="bg1"/>
                </a:solidFill>
              </a:rPr>
              <a:t>primary and secondary education</a:t>
            </a:r>
            <a:r>
              <a:rPr lang="en-GB" sz="3200" dirty="0">
                <a:solidFill>
                  <a:schemeClr val="bg1"/>
                </a:solidFill>
              </a:rPr>
              <a:t> show worse health outcomes than those with tertiary education.</a:t>
            </a:r>
          </a:p>
          <a:p>
            <a:endParaRPr lang="en-GB" dirty="0">
              <a:solidFill>
                <a:schemeClr val="bg1"/>
              </a:solidFill>
            </a:endParaRPr>
          </a:p>
        </p:txBody>
      </p:sp>
    </p:spTree>
    <p:extLst>
      <p:ext uri="{BB962C8B-B14F-4D97-AF65-F5344CB8AC3E}">
        <p14:creationId xmlns:p14="http://schemas.microsoft.com/office/powerpoint/2010/main" val="290524983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3C208B-41A7-954F-877C-CBA81589AB9D}"/>
            </a:ext>
          </a:extLst>
        </p:cNvPr>
        <p:cNvGrpSpPr/>
        <p:nvPr/>
      </p:nvGrpSpPr>
      <p:grpSpPr>
        <a:xfrm>
          <a:off x="0" y="0"/>
          <a:ext cx="0" cy="0"/>
          <a:chOff x="0" y="0"/>
          <a:chExt cx="0" cy="0"/>
        </a:xfrm>
      </p:grpSpPr>
      <p:pic>
        <p:nvPicPr>
          <p:cNvPr id="3" name="Picture 2" descr="Water droplets on a leaf&#10;&#10;AI-generated content may be incorrect.">
            <a:extLst>
              <a:ext uri="{FF2B5EF4-FFF2-40B4-BE49-F238E27FC236}">
                <a16:creationId xmlns:a16="http://schemas.microsoft.com/office/drawing/2014/main" id="{AA0B8DAE-0FE7-1EF8-B699-74270A01B04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0800" y="21770"/>
            <a:ext cx="12192000" cy="6858000"/>
          </a:xfrm>
          <a:prstGeom prst="rect">
            <a:avLst/>
          </a:prstGeom>
        </p:spPr>
      </p:pic>
      <p:sp>
        <p:nvSpPr>
          <p:cNvPr id="2" name="Rectangle: Rounded Corners 1">
            <a:extLst>
              <a:ext uri="{FF2B5EF4-FFF2-40B4-BE49-F238E27FC236}">
                <a16:creationId xmlns:a16="http://schemas.microsoft.com/office/drawing/2014/main" id="{5170D5C3-B45D-6454-ADD4-8C566542124C}"/>
              </a:ext>
            </a:extLst>
          </p:cNvPr>
          <p:cNvSpPr/>
          <p:nvPr/>
        </p:nvSpPr>
        <p:spPr>
          <a:xfrm>
            <a:off x="203200" y="435428"/>
            <a:ext cx="11684000" cy="5965371"/>
          </a:xfrm>
          <a:prstGeom prst="round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 name="TextBox 4">
            <a:extLst>
              <a:ext uri="{FF2B5EF4-FFF2-40B4-BE49-F238E27FC236}">
                <a16:creationId xmlns:a16="http://schemas.microsoft.com/office/drawing/2014/main" id="{26EED09F-A493-7ECE-25CA-041C29D4C312}"/>
              </a:ext>
            </a:extLst>
          </p:cNvPr>
          <p:cNvSpPr txBox="1"/>
          <p:nvPr/>
        </p:nvSpPr>
        <p:spPr>
          <a:xfrm>
            <a:off x="2017489" y="217714"/>
            <a:ext cx="7910286" cy="646331"/>
          </a:xfrm>
          <a:prstGeom prst="rect">
            <a:avLst/>
          </a:prstGeom>
          <a:noFill/>
        </p:spPr>
        <p:txBody>
          <a:bodyPr wrap="square" rtlCol="0">
            <a:spAutoFit/>
          </a:bodyPr>
          <a:lstStyle/>
          <a:p>
            <a:pPr algn="ctr"/>
            <a:r>
              <a:rPr lang="en-GB" sz="3600" b="1" dirty="0">
                <a:solidFill>
                  <a:schemeClr val="bg1"/>
                </a:solidFill>
              </a:rPr>
              <a:t>RECOMMENDATION</a:t>
            </a:r>
          </a:p>
        </p:txBody>
      </p:sp>
      <p:sp>
        <p:nvSpPr>
          <p:cNvPr id="6" name="Oval 5">
            <a:extLst>
              <a:ext uri="{FF2B5EF4-FFF2-40B4-BE49-F238E27FC236}">
                <a16:creationId xmlns:a16="http://schemas.microsoft.com/office/drawing/2014/main" id="{C8AD4B61-24A0-32D1-1E62-C51F17767359}"/>
              </a:ext>
            </a:extLst>
          </p:cNvPr>
          <p:cNvSpPr/>
          <p:nvPr/>
        </p:nvSpPr>
        <p:spPr>
          <a:xfrm>
            <a:off x="8098975" y="2028370"/>
            <a:ext cx="3657600" cy="2844800"/>
          </a:xfrm>
          <a:prstGeom prst="ellipse">
            <a:avLst/>
          </a:prstGeom>
          <a:solidFill>
            <a:srgbClr val="98B5A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TextBox 6">
            <a:extLst>
              <a:ext uri="{FF2B5EF4-FFF2-40B4-BE49-F238E27FC236}">
                <a16:creationId xmlns:a16="http://schemas.microsoft.com/office/drawing/2014/main" id="{46255AE3-8D82-4C7E-D475-E6BC0A9D963A}"/>
              </a:ext>
            </a:extLst>
          </p:cNvPr>
          <p:cNvSpPr txBox="1"/>
          <p:nvPr/>
        </p:nvSpPr>
        <p:spPr>
          <a:xfrm>
            <a:off x="8781145" y="2316745"/>
            <a:ext cx="2772228" cy="2523768"/>
          </a:xfrm>
          <a:prstGeom prst="rect">
            <a:avLst/>
          </a:prstGeom>
          <a:noFill/>
        </p:spPr>
        <p:txBody>
          <a:bodyPr wrap="square" rtlCol="0">
            <a:spAutoFit/>
          </a:bodyPr>
          <a:lstStyle/>
          <a:p>
            <a:r>
              <a:rPr lang="en-GB" sz="2800" b="1" dirty="0">
                <a:solidFill>
                  <a:schemeClr val="bg1"/>
                </a:solidFill>
              </a:rPr>
              <a:t>Prioritise Health Literacy &amp; Education-Driven Interventions</a:t>
            </a:r>
            <a:endParaRPr lang="en-GB" sz="2800" dirty="0">
              <a:solidFill>
                <a:schemeClr val="bg1"/>
              </a:solidFill>
            </a:endParaRPr>
          </a:p>
          <a:p>
            <a:endParaRPr lang="en-GB" dirty="0">
              <a:solidFill>
                <a:schemeClr val="bg1"/>
              </a:solidFill>
            </a:endParaRPr>
          </a:p>
        </p:txBody>
      </p:sp>
      <p:sp>
        <p:nvSpPr>
          <p:cNvPr id="10" name="Rectangle: Rounded Corners 9">
            <a:extLst>
              <a:ext uri="{FF2B5EF4-FFF2-40B4-BE49-F238E27FC236}">
                <a16:creationId xmlns:a16="http://schemas.microsoft.com/office/drawing/2014/main" id="{3512A4EF-91E4-D697-7DAF-60B3F28BCECD}"/>
              </a:ext>
            </a:extLst>
          </p:cNvPr>
          <p:cNvSpPr/>
          <p:nvPr/>
        </p:nvSpPr>
        <p:spPr>
          <a:xfrm>
            <a:off x="101601" y="1081759"/>
            <a:ext cx="7489370" cy="5631084"/>
          </a:xfrm>
          <a:prstGeom prst="roundRect">
            <a:avLst/>
          </a:prstGeom>
          <a:solidFill>
            <a:srgbClr val="98B5A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TextBox 11">
            <a:extLst>
              <a:ext uri="{FF2B5EF4-FFF2-40B4-BE49-F238E27FC236}">
                <a16:creationId xmlns:a16="http://schemas.microsoft.com/office/drawing/2014/main" id="{FB2B36EE-0D38-6046-AA8F-728881D376B6}"/>
              </a:ext>
            </a:extLst>
          </p:cNvPr>
          <p:cNvSpPr txBox="1"/>
          <p:nvPr/>
        </p:nvSpPr>
        <p:spPr>
          <a:xfrm>
            <a:off x="304801" y="1654629"/>
            <a:ext cx="7286170" cy="5693866"/>
          </a:xfrm>
          <a:prstGeom prst="rect">
            <a:avLst/>
          </a:prstGeom>
          <a:noFill/>
        </p:spPr>
        <p:txBody>
          <a:bodyPr wrap="square" rtlCol="0">
            <a:spAutoFit/>
          </a:bodyPr>
          <a:lstStyle/>
          <a:p>
            <a:r>
              <a:rPr lang="en-GB" sz="2800" dirty="0">
                <a:solidFill>
                  <a:schemeClr val="bg1"/>
                </a:solidFill>
              </a:rPr>
              <a:t>Integrate education level and health literacy indicators into the unified SDOH data model and use them as </a:t>
            </a:r>
            <a:r>
              <a:rPr lang="en-GB" sz="2800" b="1" dirty="0">
                <a:solidFill>
                  <a:schemeClr val="bg1"/>
                </a:solidFill>
              </a:rPr>
              <a:t>key risk stratification variables</a:t>
            </a:r>
            <a:r>
              <a:rPr lang="en-GB" sz="2800" dirty="0">
                <a:solidFill>
                  <a:schemeClr val="bg1"/>
                </a:solidFill>
              </a:rPr>
              <a:t>. This will allow healthcare organisations to:</a:t>
            </a:r>
          </a:p>
          <a:p>
            <a:pPr lvl="0"/>
            <a:endParaRPr lang="en-GB" sz="2800" dirty="0">
              <a:solidFill>
                <a:schemeClr val="bg1"/>
              </a:solidFill>
            </a:endParaRPr>
          </a:p>
          <a:p>
            <a:pPr marL="457200" lvl="0" indent="-457200">
              <a:buFont typeface="Arial" panose="020B0604020202020204" pitchFamily="34" charset="0"/>
              <a:buChar char="•"/>
            </a:pPr>
            <a:r>
              <a:rPr lang="en-GB" sz="2800" dirty="0">
                <a:solidFill>
                  <a:schemeClr val="bg1"/>
                </a:solidFill>
              </a:rPr>
              <a:t>Identify high-risk populations early</a:t>
            </a:r>
          </a:p>
          <a:p>
            <a:pPr lvl="0"/>
            <a:endParaRPr lang="en-GB" sz="2800" dirty="0">
              <a:solidFill>
                <a:schemeClr val="bg1"/>
              </a:solidFill>
            </a:endParaRPr>
          </a:p>
          <a:p>
            <a:pPr marL="457200" lvl="0" indent="-457200">
              <a:buFont typeface="Arial" panose="020B0604020202020204" pitchFamily="34" charset="0"/>
              <a:buChar char="•"/>
            </a:pPr>
            <a:r>
              <a:rPr lang="en-GB" sz="2800" dirty="0">
                <a:solidFill>
                  <a:schemeClr val="bg1"/>
                </a:solidFill>
              </a:rPr>
              <a:t>Deploy targeted health education programs (e.g., simplified care plans, community outreach, preventive screenings)</a:t>
            </a:r>
          </a:p>
          <a:p>
            <a:endParaRPr lang="en-GB" sz="2800" dirty="0">
              <a:solidFill>
                <a:schemeClr val="bg1"/>
              </a:solidFill>
            </a:endParaRPr>
          </a:p>
          <a:p>
            <a:endParaRPr lang="en-GB" sz="2800" dirty="0">
              <a:solidFill>
                <a:schemeClr val="bg1"/>
              </a:solidFill>
            </a:endParaRPr>
          </a:p>
        </p:txBody>
      </p:sp>
      <p:sp>
        <p:nvSpPr>
          <p:cNvPr id="13" name="Arrow: Right 12">
            <a:extLst>
              <a:ext uri="{FF2B5EF4-FFF2-40B4-BE49-F238E27FC236}">
                <a16:creationId xmlns:a16="http://schemas.microsoft.com/office/drawing/2014/main" id="{FF8A19E6-1EAB-7086-001C-60DD1381F965}"/>
              </a:ext>
            </a:extLst>
          </p:cNvPr>
          <p:cNvSpPr/>
          <p:nvPr/>
        </p:nvSpPr>
        <p:spPr>
          <a:xfrm rot="18760551">
            <a:off x="8258835" y="5184122"/>
            <a:ext cx="682171" cy="975536"/>
          </a:xfrm>
          <a:prstGeom prst="rightArrow">
            <a:avLst/>
          </a:prstGeom>
          <a:solidFill>
            <a:srgbClr val="92D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381603479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7E7A51-81B0-55A7-E731-ADA7B1B5B7A1}"/>
            </a:ext>
          </a:extLst>
        </p:cNvPr>
        <p:cNvGrpSpPr/>
        <p:nvPr/>
      </p:nvGrpSpPr>
      <p:grpSpPr>
        <a:xfrm>
          <a:off x="0" y="0"/>
          <a:ext cx="0" cy="0"/>
          <a:chOff x="0" y="0"/>
          <a:chExt cx="0" cy="0"/>
        </a:xfrm>
      </p:grpSpPr>
      <p:pic>
        <p:nvPicPr>
          <p:cNvPr id="3" name="Picture 2" descr="Water droplets on a leaf&#10;&#10;AI-generated content may be incorrect.">
            <a:extLst>
              <a:ext uri="{FF2B5EF4-FFF2-40B4-BE49-F238E27FC236}">
                <a16:creationId xmlns:a16="http://schemas.microsoft.com/office/drawing/2014/main" id="{9365AF01-0772-A8B1-8805-3FE5C691B0E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Rectangle: Rounded Corners 1">
            <a:extLst>
              <a:ext uri="{FF2B5EF4-FFF2-40B4-BE49-F238E27FC236}">
                <a16:creationId xmlns:a16="http://schemas.microsoft.com/office/drawing/2014/main" id="{3BFB8BE9-1954-C487-DBA8-17EC2D728FD1}"/>
              </a:ext>
            </a:extLst>
          </p:cNvPr>
          <p:cNvSpPr/>
          <p:nvPr/>
        </p:nvSpPr>
        <p:spPr>
          <a:xfrm>
            <a:off x="203200" y="435428"/>
            <a:ext cx="11684000" cy="5965371"/>
          </a:xfrm>
          <a:prstGeom prst="round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 name="TextBox 3">
            <a:extLst>
              <a:ext uri="{FF2B5EF4-FFF2-40B4-BE49-F238E27FC236}">
                <a16:creationId xmlns:a16="http://schemas.microsoft.com/office/drawing/2014/main" id="{0C6390FE-0546-25DC-B5AF-21777128EC51}"/>
              </a:ext>
            </a:extLst>
          </p:cNvPr>
          <p:cNvSpPr txBox="1"/>
          <p:nvPr/>
        </p:nvSpPr>
        <p:spPr>
          <a:xfrm>
            <a:off x="101600" y="330506"/>
            <a:ext cx="11887200" cy="6370975"/>
          </a:xfrm>
          <a:prstGeom prst="rect">
            <a:avLst/>
          </a:prstGeom>
          <a:noFill/>
          <a:ln>
            <a:noFill/>
          </a:ln>
        </p:spPr>
        <p:txBody>
          <a:bodyPr wrap="square" rtlCol="0">
            <a:spAutoFit/>
          </a:bodyPr>
          <a:lstStyle/>
          <a:p>
            <a:pPr algn="ctr"/>
            <a:r>
              <a:rPr lang="en-GB" sz="4000" b="1" dirty="0">
                <a:solidFill>
                  <a:schemeClr val="bg1"/>
                </a:solidFill>
              </a:rPr>
              <a:t>KEY OBSERVATIONS 2</a:t>
            </a:r>
          </a:p>
          <a:p>
            <a:endParaRPr lang="en-GB" sz="4000" dirty="0">
              <a:solidFill>
                <a:schemeClr val="bg1"/>
              </a:solidFill>
            </a:endParaRPr>
          </a:p>
          <a:p>
            <a:pPr marL="571500" lvl="0" indent="-571500">
              <a:buFont typeface="Arial" panose="020B0604020202020204" pitchFamily="34" charset="0"/>
              <a:buChar char="•"/>
            </a:pPr>
            <a:r>
              <a:rPr lang="en-GB" sz="3200" dirty="0">
                <a:solidFill>
                  <a:schemeClr val="bg1"/>
                </a:solidFill>
              </a:rPr>
              <a:t>While a large portion of the population is </a:t>
            </a:r>
            <a:r>
              <a:rPr lang="en-GB" sz="3200" b="1" dirty="0">
                <a:solidFill>
                  <a:schemeClr val="bg1"/>
                </a:solidFill>
              </a:rPr>
              <a:t>employed</a:t>
            </a:r>
            <a:r>
              <a:rPr lang="en-GB" sz="3200" dirty="0">
                <a:solidFill>
                  <a:schemeClr val="bg1"/>
                </a:solidFill>
              </a:rPr>
              <a:t>, income levels remain largely </a:t>
            </a:r>
            <a:r>
              <a:rPr lang="en-GB" sz="3200" b="1" dirty="0">
                <a:solidFill>
                  <a:schemeClr val="bg1"/>
                </a:solidFill>
              </a:rPr>
              <a:t>moderate (43.12%)</a:t>
            </a:r>
            <a:r>
              <a:rPr lang="en-GB" sz="3200" dirty="0">
                <a:solidFill>
                  <a:schemeClr val="bg1"/>
                </a:solidFill>
              </a:rPr>
              <a:t>.</a:t>
            </a:r>
          </a:p>
          <a:p>
            <a:pPr lvl="0"/>
            <a:endParaRPr lang="en-GB" sz="3200" dirty="0">
              <a:solidFill>
                <a:schemeClr val="bg1"/>
              </a:solidFill>
            </a:endParaRPr>
          </a:p>
          <a:p>
            <a:pPr marL="571500" lvl="0" indent="-571500">
              <a:buFont typeface="Arial" panose="020B0604020202020204" pitchFamily="34" charset="0"/>
              <a:buChar char="•"/>
            </a:pPr>
            <a:r>
              <a:rPr lang="en-GB" sz="3200" dirty="0">
                <a:solidFill>
                  <a:schemeClr val="bg1"/>
                </a:solidFill>
              </a:rPr>
              <a:t>Adults and elderly populations experience more chronic diseases than children.</a:t>
            </a:r>
          </a:p>
          <a:p>
            <a:pPr lvl="0"/>
            <a:endParaRPr lang="en-GB" sz="3200" dirty="0">
              <a:solidFill>
                <a:schemeClr val="bg1"/>
              </a:solidFill>
            </a:endParaRPr>
          </a:p>
          <a:p>
            <a:pPr marL="571500" lvl="0" indent="-571500">
              <a:buFont typeface="Arial" panose="020B0604020202020204" pitchFamily="34" charset="0"/>
              <a:buChar char="•"/>
            </a:pPr>
            <a:r>
              <a:rPr lang="en-GB" sz="3200" dirty="0">
                <a:solidFill>
                  <a:schemeClr val="bg1"/>
                </a:solidFill>
              </a:rPr>
              <a:t>Stable housing does not necessarily correlate with lower chronic disease prevalence, suggesting </a:t>
            </a:r>
            <a:r>
              <a:rPr lang="en-GB" sz="3200" b="1" dirty="0">
                <a:solidFill>
                  <a:schemeClr val="bg1"/>
                </a:solidFill>
              </a:rPr>
              <a:t>economic strain beyond housing stability</a:t>
            </a:r>
            <a:r>
              <a:rPr lang="en-GB" sz="3200" dirty="0">
                <a:solidFill>
                  <a:schemeClr val="bg1"/>
                </a:solidFill>
              </a:rPr>
              <a:t>.</a:t>
            </a:r>
          </a:p>
          <a:p>
            <a:endParaRPr lang="en-GB" sz="4000" dirty="0">
              <a:solidFill>
                <a:schemeClr val="bg1"/>
              </a:solidFill>
            </a:endParaRPr>
          </a:p>
        </p:txBody>
      </p:sp>
      <p:sp>
        <p:nvSpPr>
          <p:cNvPr id="5" name="Rectangle: Rounded Corners 4">
            <a:extLst>
              <a:ext uri="{FF2B5EF4-FFF2-40B4-BE49-F238E27FC236}">
                <a16:creationId xmlns:a16="http://schemas.microsoft.com/office/drawing/2014/main" id="{E6B98D18-9BCA-F8F3-0345-1899589E8CAD}"/>
              </a:ext>
            </a:extLst>
          </p:cNvPr>
          <p:cNvSpPr/>
          <p:nvPr/>
        </p:nvSpPr>
        <p:spPr>
          <a:xfrm>
            <a:off x="99152" y="110169"/>
            <a:ext cx="11889648" cy="6544019"/>
          </a:xfrm>
          <a:prstGeom prst="roundRect">
            <a:avLst/>
          </a:pr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15264493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5AA527-11B9-BA44-1BA3-266AB8DDADFB}"/>
            </a:ext>
          </a:extLst>
        </p:cNvPr>
        <p:cNvGrpSpPr/>
        <p:nvPr/>
      </p:nvGrpSpPr>
      <p:grpSpPr>
        <a:xfrm>
          <a:off x="0" y="0"/>
          <a:ext cx="0" cy="0"/>
          <a:chOff x="0" y="0"/>
          <a:chExt cx="0" cy="0"/>
        </a:xfrm>
      </p:grpSpPr>
      <p:pic>
        <p:nvPicPr>
          <p:cNvPr id="3" name="Picture 2" descr="Water droplets on a leaf&#10;&#10;AI-generated content may be incorrect.">
            <a:extLst>
              <a:ext uri="{FF2B5EF4-FFF2-40B4-BE49-F238E27FC236}">
                <a16:creationId xmlns:a16="http://schemas.microsoft.com/office/drawing/2014/main" id="{C8256DA0-CE7B-7EE6-CB9C-48F1005F792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0800" y="21770"/>
            <a:ext cx="12192000" cy="6858000"/>
          </a:xfrm>
          <a:prstGeom prst="rect">
            <a:avLst/>
          </a:prstGeom>
        </p:spPr>
      </p:pic>
      <p:sp>
        <p:nvSpPr>
          <p:cNvPr id="2" name="Rectangle: Rounded Corners 1">
            <a:extLst>
              <a:ext uri="{FF2B5EF4-FFF2-40B4-BE49-F238E27FC236}">
                <a16:creationId xmlns:a16="http://schemas.microsoft.com/office/drawing/2014/main" id="{2D2F0FF7-7F4A-49B2-F580-2EB95A3DDAA1}"/>
              </a:ext>
            </a:extLst>
          </p:cNvPr>
          <p:cNvSpPr/>
          <p:nvPr/>
        </p:nvSpPr>
        <p:spPr>
          <a:xfrm>
            <a:off x="203200" y="435428"/>
            <a:ext cx="11684000" cy="5965371"/>
          </a:xfrm>
          <a:prstGeom prst="round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 name="TextBox 4">
            <a:extLst>
              <a:ext uri="{FF2B5EF4-FFF2-40B4-BE49-F238E27FC236}">
                <a16:creationId xmlns:a16="http://schemas.microsoft.com/office/drawing/2014/main" id="{04E1ECC5-3647-C09C-7B72-0CCD575FB774}"/>
              </a:ext>
            </a:extLst>
          </p:cNvPr>
          <p:cNvSpPr txBox="1"/>
          <p:nvPr/>
        </p:nvSpPr>
        <p:spPr>
          <a:xfrm>
            <a:off x="2017489" y="217714"/>
            <a:ext cx="7910286" cy="646331"/>
          </a:xfrm>
          <a:prstGeom prst="rect">
            <a:avLst/>
          </a:prstGeom>
          <a:noFill/>
        </p:spPr>
        <p:txBody>
          <a:bodyPr wrap="square" rtlCol="0">
            <a:spAutoFit/>
          </a:bodyPr>
          <a:lstStyle/>
          <a:p>
            <a:pPr algn="ctr"/>
            <a:r>
              <a:rPr lang="en-GB" sz="3600" b="1" dirty="0">
                <a:solidFill>
                  <a:schemeClr val="bg1"/>
                </a:solidFill>
              </a:rPr>
              <a:t>RECOMMENDATION</a:t>
            </a:r>
          </a:p>
        </p:txBody>
      </p:sp>
      <p:sp>
        <p:nvSpPr>
          <p:cNvPr id="6" name="Oval 5">
            <a:extLst>
              <a:ext uri="{FF2B5EF4-FFF2-40B4-BE49-F238E27FC236}">
                <a16:creationId xmlns:a16="http://schemas.microsoft.com/office/drawing/2014/main" id="{E2F802B7-D7FB-473B-74E9-DA4F6BFD3DBB}"/>
              </a:ext>
            </a:extLst>
          </p:cNvPr>
          <p:cNvSpPr/>
          <p:nvPr/>
        </p:nvSpPr>
        <p:spPr>
          <a:xfrm>
            <a:off x="8098975" y="2028370"/>
            <a:ext cx="3657600" cy="2844800"/>
          </a:xfrm>
          <a:prstGeom prst="ellipse">
            <a:avLst/>
          </a:prstGeom>
          <a:solidFill>
            <a:srgbClr val="98B5A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TextBox 6">
            <a:extLst>
              <a:ext uri="{FF2B5EF4-FFF2-40B4-BE49-F238E27FC236}">
                <a16:creationId xmlns:a16="http://schemas.microsoft.com/office/drawing/2014/main" id="{0A230593-E546-A85E-B9AC-0A5ACAFC4B52}"/>
              </a:ext>
            </a:extLst>
          </p:cNvPr>
          <p:cNvSpPr txBox="1"/>
          <p:nvPr/>
        </p:nvSpPr>
        <p:spPr>
          <a:xfrm>
            <a:off x="8599920" y="2254678"/>
            <a:ext cx="2772228" cy="2523768"/>
          </a:xfrm>
          <a:prstGeom prst="rect">
            <a:avLst/>
          </a:prstGeom>
          <a:noFill/>
        </p:spPr>
        <p:txBody>
          <a:bodyPr wrap="square" rtlCol="0">
            <a:spAutoFit/>
          </a:bodyPr>
          <a:lstStyle/>
          <a:p>
            <a:pPr algn="ctr"/>
            <a:r>
              <a:rPr lang="en-GB" sz="2800" b="1" dirty="0">
                <a:solidFill>
                  <a:schemeClr val="bg1"/>
                </a:solidFill>
              </a:rPr>
              <a:t>Use Employment &amp; Income Data to Predict Chronic Disease Risk</a:t>
            </a:r>
            <a:endParaRPr lang="en-GB" sz="2800" dirty="0">
              <a:solidFill>
                <a:schemeClr val="bg1"/>
              </a:solidFill>
            </a:endParaRPr>
          </a:p>
          <a:p>
            <a:endParaRPr lang="en-GB" dirty="0">
              <a:solidFill>
                <a:schemeClr val="bg1"/>
              </a:solidFill>
            </a:endParaRPr>
          </a:p>
        </p:txBody>
      </p:sp>
      <p:sp>
        <p:nvSpPr>
          <p:cNvPr id="10" name="Rectangle: Rounded Corners 9">
            <a:extLst>
              <a:ext uri="{FF2B5EF4-FFF2-40B4-BE49-F238E27FC236}">
                <a16:creationId xmlns:a16="http://schemas.microsoft.com/office/drawing/2014/main" id="{9B2E158F-F668-5BBB-F143-AFB06851E924}"/>
              </a:ext>
            </a:extLst>
          </p:cNvPr>
          <p:cNvSpPr/>
          <p:nvPr/>
        </p:nvSpPr>
        <p:spPr>
          <a:xfrm>
            <a:off x="58064" y="816880"/>
            <a:ext cx="7777882" cy="6062890"/>
          </a:xfrm>
          <a:prstGeom prst="roundRect">
            <a:avLst/>
          </a:prstGeom>
          <a:solidFill>
            <a:srgbClr val="98B5A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TextBox 11">
            <a:extLst>
              <a:ext uri="{FF2B5EF4-FFF2-40B4-BE49-F238E27FC236}">
                <a16:creationId xmlns:a16="http://schemas.microsoft.com/office/drawing/2014/main" id="{DFEC28A2-3BE2-2D81-F00C-FD1B5A95D8E1}"/>
              </a:ext>
            </a:extLst>
          </p:cNvPr>
          <p:cNvSpPr txBox="1"/>
          <p:nvPr/>
        </p:nvSpPr>
        <p:spPr>
          <a:xfrm>
            <a:off x="370113" y="1117143"/>
            <a:ext cx="7255567" cy="5570756"/>
          </a:xfrm>
          <a:prstGeom prst="rect">
            <a:avLst/>
          </a:prstGeom>
          <a:noFill/>
        </p:spPr>
        <p:txBody>
          <a:bodyPr wrap="square" rtlCol="0">
            <a:spAutoFit/>
          </a:bodyPr>
          <a:lstStyle/>
          <a:p>
            <a:r>
              <a:rPr lang="en-GB" sz="2800" dirty="0">
                <a:solidFill>
                  <a:schemeClr val="bg1"/>
                </a:solidFill>
              </a:rPr>
              <a:t>Automate the ingestion and processing of </a:t>
            </a:r>
            <a:r>
              <a:rPr lang="en-GB" sz="2800" b="1" dirty="0">
                <a:solidFill>
                  <a:schemeClr val="bg1"/>
                </a:solidFill>
              </a:rPr>
              <a:t>employment status, income level, and age demographics</a:t>
            </a:r>
            <a:r>
              <a:rPr lang="en-GB" sz="2800" dirty="0">
                <a:solidFill>
                  <a:schemeClr val="bg1"/>
                </a:solidFill>
              </a:rPr>
              <a:t> into predictive dashboards. These dashboards should flag:</a:t>
            </a:r>
          </a:p>
          <a:p>
            <a:endParaRPr lang="en-GB" sz="2800" dirty="0">
              <a:solidFill>
                <a:schemeClr val="bg1"/>
              </a:solidFill>
            </a:endParaRPr>
          </a:p>
          <a:p>
            <a:pPr marL="457200" lvl="0" indent="-457200">
              <a:buFont typeface="Arial" panose="020B0604020202020204" pitchFamily="34" charset="0"/>
              <a:buChar char="•"/>
            </a:pPr>
            <a:r>
              <a:rPr lang="en-GB" sz="2400" dirty="0">
                <a:solidFill>
                  <a:schemeClr val="bg1"/>
                </a:solidFill>
              </a:rPr>
              <a:t>Employed but financially vulnerable populations.</a:t>
            </a:r>
          </a:p>
          <a:p>
            <a:pPr marL="457200" lvl="0" indent="-457200">
              <a:buFont typeface="Arial" panose="020B0604020202020204" pitchFamily="34" charset="0"/>
              <a:buChar char="•"/>
            </a:pPr>
            <a:endParaRPr lang="en-GB" sz="2400" dirty="0">
              <a:solidFill>
                <a:schemeClr val="bg1"/>
              </a:solidFill>
            </a:endParaRPr>
          </a:p>
          <a:p>
            <a:pPr marL="457200" lvl="0" indent="-457200">
              <a:buFont typeface="Arial" panose="020B0604020202020204" pitchFamily="34" charset="0"/>
              <a:buChar char="•"/>
            </a:pPr>
            <a:r>
              <a:rPr lang="en-GB" sz="2400" dirty="0">
                <a:solidFill>
                  <a:schemeClr val="bg1"/>
                </a:solidFill>
              </a:rPr>
              <a:t>Adult and elderly cohorts with rising chronic disease prevalence</a:t>
            </a:r>
          </a:p>
          <a:p>
            <a:pPr lvl="0"/>
            <a:endParaRPr lang="en-GB" sz="2400" dirty="0">
              <a:solidFill>
                <a:schemeClr val="bg1"/>
              </a:solidFill>
            </a:endParaRPr>
          </a:p>
          <a:p>
            <a:r>
              <a:rPr lang="en-GB" sz="2400" dirty="0">
                <a:solidFill>
                  <a:schemeClr val="bg1"/>
                </a:solidFill>
              </a:rPr>
              <a:t>This enables healthcare providers to allocate resources such as preventive care programs and chronic disease management support more effectively.</a:t>
            </a:r>
          </a:p>
        </p:txBody>
      </p:sp>
      <p:sp>
        <p:nvSpPr>
          <p:cNvPr id="13" name="Arrow: Right 12">
            <a:extLst>
              <a:ext uri="{FF2B5EF4-FFF2-40B4-BE49-F238E27FC236}">
                <a16:creationId xmlns:a16="http://schemas.microsoft.com/office/drawing/2014/main" id="{7A4F0956-3DB6-F8D6-6E88-FE87F70BA91C}"/>
              </a:ext>
            </a:extLst>
          </p:cNvPr>
          <p:cNvSpPr/>
          <p:nvPr/>
        </p:nvSpPr>
        <p:spPr>
          <a:xfrm rot="18760551">
            <a:off x="8258835" y="5184122"/>
            <a:ext cx="682171" cy="975536"/>
          </a:xfrm>
          <a:prstGeom prst="rightArrow">
            <a:avLst/>
          </a:prstGeom>
          <a:solidFill>
            <a:srgbClr val="92D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407062714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4B09EF-89EB-B5A4-0BE4-958BB5D3426F}"/>
            </a:ext>
          </a:extLst>
        </p:cNvPr>
        <p:cNvGrpSpPr/>
        <p:nvPr/>
      </p:nvGrpSpPr>
      <p:grpSpPr>
        <a:xfrm>
          <a:off x="0" y="0"/>
          <a:ext cx="0" cy="0"/>
          <a:chOff x="0" y="0"/>
          <a:chExt cx="0" cy="0"/>
        </a:xfrm>
      </p:grpSpPr>
      <p:pic>
        <p:nvPicPr>
          <p:cNvPr id="3" name="Picture 2" descr="Water droplets on a leaf&#10;&#10;AI-generated content may be incorrect.">
            <a:extLst>
              <a:ext uri="{FF2B5EF4-FFF2-40B4-BE49-F238E27FC236}">
                <a16:creationId xmlns:a16="http://schemas.microsoft.com/office/drawing/2014/main" id="{028B4F53-9603-60EC-23CF-3D72FFF78C7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Rectangle: Rounded Corners 1">
            <a:extLst>
              <a:ext uri="{FF2B5EF4-FFF2-40B4-BE49-F238E27FC236}">
                <a16:creationId xmlns:a16="http://schemas.microsoft.com/office/drawing/2014/main" id="{F4C2D686-70B2-EC21-7CBB-D05C90C25B08}"/>
              </a:ext>
            </a:extLst>
          </p:cNvPr>
          <p:cNvSpPr/>
          <p:nvPr/>
        </p:nvSpPr>
        <p:spPr>
          <a:xfrm>
            <a:off x="203200" y="435428"/>
            <a:ext cx="11684000" cy="5965371"/>
          </a:xfrm>
          <a:prstGeom prst="round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 name="TextBox 3">
            <a:extLst>
              <a:ext uri="{FF2B5EF4-FFF2-40B4-BE49-F238E27FC236}">
                <a16:creationId xmlns:a16="http://schemas.microsoft.com/office/drawing/2014/main" id="{E6E25DFA-3C42-64B6-0D52-732419AFEB6A}"/>
              </a:ext>
            </a:extLst>
          </p:cNvPr>
          <p:cNvSpPr txBox="1"/>
          <p:nvPr/>
        </p:nvSpPr>
        <p:spPr>
          <a:xfrm>
            <a:off x="152400" y="498041"/>
            <a:ext cx="11887200" cy="6370975"/>
          </a:xfrm>
          <a:prstGeom prst="rect">
            <a:avLst/>
          </a:prstGeom>
          <a:noFill/>
        </p:spPr>
        <p:txBody>
          <a:bodyPr wrap="square" rtlCol="0">
            <a:spAutoFit/>
          </a:bodyPr>
          <a:lstStyle/>
          <a:p>
            <a:pPr algn="ctr"/>
            <a:r>
              <a:rPr lang="en-GB" sz="4000" b="1" dirty="0">
                <a:solidFill>
                  <a:schemeClr val="bg1"/>
                </a:solidFill>
              </a:rPr>
              <a:t>KEY OBSERVATIONS 3</a:t>
            </a:r>
          </a:p>
          <a:p>
            <a:endParaRPr lang="en-GB" sz="4000" dirty="0">
              <a:solidFill>
                <a:schemeClr val="bg1"/>
              </a:solidFill>
            </a:endParaRPr>
          </a:p>
          <a:p>
            <a:pPr marL="457200" lvl="0" indent="-457200">
              <a:buFont typeface="Arial" panose="020B0604020202020204" pitchFamily="34" charset="0"/>
              <a:buChar char="•"/>
            </a:pPr>
            <a:r>
              <a:rPr lang="en-GB" sz="3200" b="1" dirty="0">
                <a:solidFill>
                  <a:schemeClr val="bg1"/>
                </a:solidFill>
              </a:rPr>
              <a:t>Females experience higher rates of chronic diseases than males</a:t>
            </a:r>
            <a:r>
              <a:rPr lang="en-GB" sz="3200" dirty="0">
                <a:solidFill>
                  <a:schemeClr val="bg1"/>
                </a:solidFill>
              </a:rPr>
              <a:t>.</a:t>
            </a:r>
          </a:p>
          <a:p>
            <a:pPr lvl="0"/>
            <a:endParaRPr lang="en-GB" sz="3200" dirty="0">
              <a:solidFill>
                <a:schemeClr val="bg1"/>
              </a:solidFill>
            </a:endParaRPr>
          </a:p>
          <a:p>
            <a:pPr marL="457200" lvl="0" indent="-457200">
              <a:buFont typeface="Arial" panose="020B0604020202020204" pitchFamily="34" charset="0"/>
              <a:buChar char="•"/>
            </a:pPr>
            <a:r>
              <a:rPr lang="en-GB" sz="3200" b="1" dirty="0">
                <a:solidFill>
                  <a:schemeClr val="bg1"/>
                </a:solidFill>
              </a:rPr>
              <a:t>Children show significantly lower chronic disease prevalence</a:t>
            </a:r>
            <a:r>
              <a:rPr lang="en-GB" sz="3200" dirty="0">
                <a:solidFill>
                  <a:schemeClr val="bg1"/>
                </a:solidFill>
              </a:rPr>
              <a:t>, while adults and elderly populations are at higher risk.</a:t>
            </a:r>
          </a:p>
          <a:p>
            <a:pPr lvl="0"/>
            <a:endParaRPr lang="en-GB" sz="3200" dirty="0">
              <a:solidFill>
                <a:schemeClr val="bg1"/>
              </a:solidFill>
            </a:endParaRPr>
          </a:p>
          <a:p>
            <a:pPr marL="457200" lvl="0" indent="-457200">
              <a:buFont typeface="Arial" panose="020B0604020202020204" pitchFamily="34" charset="0"/>
              <a:buChar char="•"/>
            </a:pPr>
            <a:r>
              <a:rPr lang="en-GB" sz="3200" dirty="0">
                <a:solidFill>
                  <a:schemeClr val="bg1"/>
                </a:solidFill>
              </a:rPr>
              <a:t>Employment status impacts outcomes, with unemployed (below working age) populations experiencing fewer chronic diseases.</a:t>
            </a:r>
          </a:p>
          <a:p>
            <a:endParaRPr lang="en-GB" sz="4000" dirty="0">
              <a:solidFill>
                <a:schemeClr val="bg1"/>
              </a:solidFill>
            </a:endParaRPr>
          </a:p>
        </p:txBody>
      </p:sp>
      <p:sp>
        <p:nvSpPr>
          <p:cNvPr id="5" name="Rectangle: Rounded Corners 4">
            <a:extLst>
              <a:ext uri="{FF2B5EF4-FFF2-40B4-BE49-F238E27FC236}">
                <a16:creationId xmlns:a16="http://schemas.microsoft.com/office/drawing/2014/main" id="{FD80496F-9843-8F7F-D3A1-2D8BAE9F159E}"/>
              </a:ext>
            </a:extLst>
          </p:cNvPr>
          <p:cNvSpPr/>
          <p:nvPr/>
        </p:nvSpPr>
        <p:spPr>
          <a:xfrm>
            <a:off x="152400" y="275422"/>
            <a:ext cx="11955137" cy="6455884"/>
          </a:xfrm>
          <a:prstGeom prst="roundRect">
            <a:avLst/>
          </a:pr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256379548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FF95FA-03F8-803A-A8E1-CE84B1E52EAB}"/>
            </a:ext>
          </a:extLst>
        </p:cNvPr>
        <p:cNvGrpSpPr/>
        <p:nvPr/>
      </p:nvGrpSpPr>
      <p:grpSpPr>
        <a:xfrm>
          <a:off x="0" y="0"/>
          <a:ext cx="0" cy="0"/>
          <a:chOff x="0" y="0"/>
          <a:chExt cx="0" cy="0"/>
        </a:xfrm>
      </p:grpSpPr>
      <p:pic>
        <p:nvPicPr>
          <p:cNvPr id="3" name="Picture 2" descr="Water droplets on a leaf&#10;&#10;AI-generated content may be incorrect.">
            <a:extLst>
              <a:ext uri="{FF2B5EF4-FFF2-40B4-BE49-F238E27FC236}">
                <a16:creationId xmlns:a16="http://schemas.microsoft.com/office/drawing/2014/main" id="{109710C6-4A53-B4D9-E73E-19ACFBC6DA9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0800" y="21770"/>
            <a:ext cx="12192000" cy="6858000"/>
          </a:xfrm>
          <a:prstGeom prst="rect">
            <a:avLst/>
          </a:prstGeom>
          <a:ln>
            <a:noFill/>
          </a:ln>
        </p:spPr>
      </p:pic>
      <p:sp>
        <p:nvSpPr>
          <p:cNvPr id="2" name="Rectangle: Rounded Corners 1">
            <a:extLst>
              <a:ext uri="{FF2B5EF4-FFF2-40B4-BE49-F238E27FC236}">
                <a16:creationId xmlns:a16="http://schemas.microsoft.com/office/drawing/2014/main" id="{A700BFE3-067D-00E3-B570-8319342AD153}"/>
              </a:ext>
            </a:extLst>
          </p:cNvPr>
          <p:cNvSpPr/>
          <p:nvPr/>
        </p:nvSpPr>
        <p:spPr>
          <a:xfrm>
            <a:off x="203200" y="435428"/>
            <a:ext cx="11684000" cy="5965371"/>
          </a:xfrm>
          <a:prstGeom prst="round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 name="TextBox 4">
            <a:extLst>
              <a:ext uri="{FF2B5EF4-FFF2-40B4-BE49-F238E27FC236}">
                <a16:creationId xmlns:a16="http://schemas.microsoft.com/office/drawing/2014/main" id="{B98CC12E-503C-9269-3DCA-346BAE4E312C}"/>
              </a:ext>
            </a:extLst>
          </p:cNvPr>
          <p:cNvSpPr txBox="1"/>
          <p:nvPr/>
        </p:nvSpPr>
        <p:spPr>
          <a:xfrm>
            <a:off x="2017489" y="217714"/>
            <a:ext cx="7910286" cy="646331"/>
          </a:xfrm>
          <a:prstGeom prst="rect">
            <a:avLst/>
          </a:prstGeom>
          <a:noFill/>
        </p:spPr>
        <p:txBody>
          <a:bodyPr wrap="square" rtlCol="0">
            <a:spAutoFit/>
          </a:bodyPr>
          <a:lstStyle/>
          <a:p>
            <a:pPr algn="ctr"/>
            <a:r>
              <a:rPr lang="en-GB" sz="3600" b="1" dirty="0">
                <a:solidFill>
                  <a:schemeClr val="bg1"/>
                </a:solidFill>
              </a:rPr>
              <a:t>RECOMMENDATION</a:t>
            </a:r>
          </a:p>
        </p:txBody>
      </p:sp>
      <p:sp>
        <p:nvSpPr>
          <p:cNvPr id="6" name="Oval 5">
            <a:extLst>
              <a:ext uri="{FF2B5EF4-FFF2-40B4-BE49-F238E27FC236}">
                <a16:creationId xmlns:a16="http://schemas.microsoft.com/office/drawing/2014/main" id="{F64966E2-572E-0486-AD13-86B61F03CA08}"/>
              </a:ext>
            </a:extLst>
          </p:cNvPr>
          <p:cNvSpPr/>
          <p:nvPr/>
        </p:nvSpPr>
        <p:spPr>
          <a:xfrm>
            <a:off x="8098975" y="2028369"/>
            <a:ext cx="3722912" cy="3182259"/>
          </a:xfrm>
          <a:prstGeom prst="ellipse">
            <a:avLst/>
          </a:prstGeom>
          <a:solidFill>
            <a:srgbClr val="98B5A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TextBox 6">
            <a:extLst>
              <a:ext uri="{FF2B5EF4-FFF2-40B4-BE49-F238E27FC236}">
                <a16:creationId xmlns:a16="http://schemas.microsoft.com/office/drawing/2014/main" id="{E1ACE54C-8641-525C-C763-6EBB3FD509EF}"/>
              </a:ext>
            </a:extLst>
          </p:cNvPr>
          <p:cNvSpPr txBox="1"/>
          <p:nvPr/>
        </p:nvSpPr>
        <p:spPr>
          <a:xfrm>
            <a:off x="8599920" y="2254678"/>
            <a:ext cx="2772228" cy="2677656"/>
          </a:xfrm>
          <a:prstGeom prst="rect">
            <a:avLst/>
          </a:prstGeom>
          <a:noFill/>
        </p:spPr>
        <p:txBody>
          <a:bodyPr wrap="square" rtlCol="0">
            <a:spAutoFit/>
          </a:bodyPr>
          <a:lstStyle/>
          <a:p>
            <a:pPr algn="ctr"/>
            <a:r>
              <a:rPr lang="en-GB" sz="2800" b="1" dirty="0">
                <a:solidFill>
                  <a:schemeClr val="bg1"/>
                </a:solidFill>
              </a:rPr>
              <a:t>Implement Gender-Sensitive and Age-Specific Health Monitoring</a:t>
            </a:r>
            <a:endParaRPr lang="en-GB" sz="2800" dirty="0">
              <a:solidFill>
                <a:schemeClr val="bg1"/>
              </a:solidFill>
            </a:endParaRPr>
          </a:p>
        </p:txBody>
      </p:sp>
      <p:sp>
        <p:nvSpPr>
          <p:cNvPr id="10" name="Rectangle: Rounded Corners 9">
            <a:extLst>
              <a:ext uri="{FF2B5EF4-FFF2-40B4-BE49-F238E27FC236}">
                <a16:creationId xmlns:a16="http://schemas.microsoft.com/office/drawing/2014/main" id="{698AB05B-6825-E4B4-AD0B-635BA256A945}"/>
              </a:ext>
            </a:extLst>
          </p:cNvPr>
          <p:cNvSpPr/>
          <p:nvPr/>
        </p:nvSpPr>
        <p:spPr>
          <a:xfrm>
            <a:off x="58064" y="816880"/>
            <a:ext cx="7777882" cy="6062890"/>
          </a:xfrm>
          <a:prstGeom prst="roundRect">
            <a:avLst/>
          </a:prstGeom>
          <a:solidFill>
            <a:srgbClr val="98B5A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TextBox 11">
            <a:extLst>
              <a:ext uri="{FF2B5EF4-FFF2-40B4-BE49-F238E27FC236}">
                <a16:creationId xmlns:a16="http://schemas.microsoft.com/office/drawing/2014/main" id="{FE0C5556-D580-E4EE-C00E-8BF9B0F4B121}"/>
              </a:ext>
            </a:extLst>
          </p:cNvPr>
          <p:cNvSpPr txBox="1"/>
          <p:nvPr/>
        </p:nvSpPr>
        <p:spPr>
          <a:xfrm>
            <a:off x="370113" y="1117143"/>
            <a:ext cx="7255567" cy="4401205"/>
          </a:xfrm>
          <a:prstGeom prst="rect">
            <a:avLst/>
          </a:prstGeom>
          <a:noFill/>
        </p:spPr>
        <p:txBody>
          <a:bodyPr wrap="square" rtlCol="0">
            <a:spAutoFit/>
          </a:bodyPr>
          <a:lstStyle/>
          <a:p>
            <a:r>
              <a:rPr lang="en-GB" sz="2800" dirty="0">
                <a:solidFill>
                  <a:schemeClr val="bg1"/>
                </a:solidFill>
              </a:rPr>
              <a:t>Develop real-time dashboards segmented by </a:t>
            </a:r>
            <a:r>
              <a:rPr lang="en-GB" sz="2800" b="1" dirty="0">
                <a:solidFill>
                  <a:schemeClr val="bg1"/>
                </a:solidFill>
              </a:rPr>
              <a:t>gender, age group, and employment status</a:t>
            </a:r>
            <a:r>
              <a:rPr lang="en-GB" sz="2800" dirty="0">
                <a:solidFill>
                  <a:schemeClr val="bg1"/>
                </a:solidFill>
              </a:rPr>
              <a:t> to support:</a:t>
            </a:r>
          </a:p>
          <a:p>
            <a:endParaRPr lang="en-GB" sz="2800" dirty="0">
              <a:solidFill>
                <a:schemeClr val="bg1"/>
              </a:solidFill>
            </a:endParaRPr>
          </a:p>
          <a:p>
            <a:pPr marL="457200" lvl="0" indent="-457200">
              <a:buFont typeface="Arial" panose="020B0604020202020204" pitchFamily="34" charset="0"/>
              <a:buChar char="•"/>
            </a:pPr>
            <a:r>
              <a:rPr lang="en-GB" sz="2800" dirty="0">
                <a:solidFill>
                  <a:schemeClr val="bg1"/>
                </a:solidFill>
              </a:rPr>
              <a:t>Gender-specific health programs</a:t>
            </a:r>
          </a:p>
          <a:p>
            <a:pPr lvl="0"/>
            <a:endParaRPr lang="en-GB" sz="2800" dirty="0">
              <a:solidFill>
                <a:schemeClr val="bg1"/>
              </a:solidFill>
            </a:endParaRPr>
          </a:p>
          <a:p>
            <a:pPr marL="457200" lvl="0" indent="-457200">
              <a:buFont typeface="Arial" panose="020B0604020202020204" pitchFamily="34" charset="0"/>
              <a:buChar char="•"/>
            </a:pPr>
            <a:r>
              <a:rPr lang="en-GB" sz="2800" dirty="0">
                <a:solidFill>
                  <a:schemeClr val="bg1"/>
                </a:solidFill>
              </a:rPr>
              <a:t>Age-appropriate preventive interventions</a:t>
            </a:r>
          </a:p>
          <a:p>
            <a:pPr lvl="0"/>
            <a:endParaRPr lang="en-GB" sz="2800" dirty="0">
              <a:solidFill>
                <a:schemeClr val="bg1"/>
              </a:solidFill>
            </a:endParaRPr>
          </a:p>
          <a:p>
            <a:pPr marL="457200" lvl="0" indent="-457200">
              <a:buFont typeface="Arial" panose="020B0604020202020204" pitchFamily="34" charset="0"/>
              <a:buChar char="•"/>
            </a:pPr>
            <a:r>
              <a:rPr lang="en-GB" sz="2800" dirty="0">
                <a:solidFill>
                  <a:schemeClr val="bg1"/>
                </a:solidFill>
              </a:rPr>
              <a:t>Early detection of rising risks in adult and elderly populations</a:t>
            </a:r>
          </a:p>
        </p:txBody>
      </p:sp>
      <p:sp>
        <p:nvSpPr>
          <p:cNvPr id="13" name="Arrow: Right 12">
            <a:extLst>
              <a:ext uri="{FF2B5EF4-FFF2-40B4-BE49-F238E27FC236}">
                <a16:creationId xmlns:a16="http://schemas.microsoft.com/office/drawing/2014/main" id="{1A91E502-8DD0-0845-AB8F-8B6B26DB6CA9}"/>
              </a:ext>
            </a:extLst>
          </p:cNvPr>
          <p:cNvSpPr/>
          <p:nvPr/>
        </p:nvSpPr>
        <p:spPr>
          <a:xfrm rot="18760551">
            <a:off x="8258835" y="5184122"/>
            <a:ext cx="682171" cy="975536"/>
          </a:xfrm>
          <a:prstGeom prst="rightArrow">
            <a:avLst/>
          </a:prstGeom>
          <a:solidFill>
            <a:srgbClr val="92D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338281715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74DF57-AEE2-4792-825D-073BBD2088DD}"/>
            </a:ext>
          </a:extLst>
        </p:cNvPr>
        <p:cNvGrpSpPr/>
        <p:nvPr/>
      </p:nvGrpSpPr>
      <p:grpSpPr>
        <a:xfrm>
          <a:off x="0" y="0"/>
          <a:ext cx="0" cy="0"/>
          <a:chOff x="0" y="0"/>
          <a:chExt cx="0" cy="0"/>
        </a:xfrm>
      </p:grpSpPr>
      <p:pic>
        <p:nvPicPr>
          <p:cNvPr id="3" name="Picture 2" descr="Water droplets on a leaf&#10;&#10;AI-generated content may be incorrect.">
            <a:extLst>
              <a:ext uri="{FF2B5EF4-FFF2-40B4-BE49-F238E27FC236}">
                <a16:creationId xmlns:a16="http://schemas.microsoft.com/office/drawing/2014/main" id="{52C2A868-A7AC-6A80-9FA9-ABA9F3C61EC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Rectangle: Rounded Corners 1">
            <a:extLst>
              <a:ext uri="{FF2B5EF4-FFF2-40B4-BE49-F238E27FC236}">
                <a16:creationId xmlns:a16="http://schemas.microsoft.com/office/drawing/2014/main" id="{FED19BDD-4581-71F1-69EF-154AB656A97D}"/>
              </a:ext>
            </a:extLst>
          </p:cNvPr>
          <p:cNvSpPr/>
          <p:nvPr/>
        </p:nvSpPr>
        <p:spPr>
          <a:xfrm>
            <a:off x="203200" y="435428"/>
            <a:ext cx="11684000" cy="5965371"/>
          </a:xfrm>
          <a:prstGeom prst="roundRect">
            <a:avLst/>
          </a:pr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 name="TextBox 3">
            <a:extLst>
              <a:ext uri="{FF2B5EF4-FFF2-40B4-BE49-F238E27FC236}">
                <a16:creationId xmlns:a16="http://schemas.microsoft.com/office/drawing/2014/main" id="{1334E413-8FB9-4D67-0BF8-480C0EDB93FF}"/>
              </a:ext>
            </a:extLst>
          </p:cNvPr>
          <p:cNvSpPr txBox="1"/>
          <p:nvPr/>
        </p:nvSpPr>
        <p:spPr>
          <a:xfrm>
            <a:off x="203200" y="826265"/>
            <a:ext cx="11887200" cy="4524315"/>
          </a:xfrm>
          <a:prstGeom prst="rect">
            <a:avLst/>
          </a:prstGeom>
          <a:noFill/>
        </p:spPr>
        <p:txBody>
          <a:bodyPr wrap="square" rtlCol="0">
            <a:spAutoFit/>
          </a:bodyPr>
          <a:lstStyle/>
          <a:p>
            <a:pPr algn="ctr"/>
            <a:r>
              <a:rPr lang="en-GB" sz="3200" b="1" dirty="0">
                <a:solidFill>
                  <a:schemeClr val="bg1"/>
                </a:solidFill>
              </a:rPr>
              <a:t>KEY OBSERVATIONS 4</a:t>
            </a:r>
          </a:p>
          <a:p>
            <a:endParaRPr lang="en-GB" sz="3200" dirty="0">
              <a:solidFill>
                <a:schemeClr val="bg1"/>
              </a:solidFill>
            </a:endParaRPr>
          </a:p>
          <a:p>
            <a:pPr marL="457200" lvl="0" indent="-457200">
              <a:buFont typeface="Arial" panose="020B0604020202020204" pitchFamily="34" charset="0"/>
              <a:buChar char="•"/>
            </a:pPr>
            <a:r>
              <a:rPr lang="en-GB" sz="3200" dirty="0">
                <a:solidFill>
                  <a:schemeClr val="bg1"/>
                </a:solidFill>
              </a:rPr>
              <a:t>Manual data processing contributes to delays in identifying emerging health disparities.</a:t>
            </a:r>
          </a:p>
          <a:p>
            <a:pPr lvl="0"/>
            <a:endParaRPr lang="en-GB" sz="3200" dirty="0">
              <a:solidFill>
                <a:schemeClr val="bg1"/>
              </a:solidFill>
            </a:endParaRPr>
          </a:p>
          <a:p>
            <a:pPr lvl="0"/>
            <a:endParaRPr lang="en-GB" sz="3200" dirty="0">
              <a:solidFill>
                <a:schemeClr val="bg1"/>
              </a:solidFill>
            </a:endParaRPr>
          </a:p>
          <a:p>
            <a:pPr marL="457200" lvl="0" indent="-457200">
              <a:buFont typeface="Arial" panose="020B0604020202020204" pitchFamily="34" charset="0"/>
              <a:buChar char="•"/>
            </a:pPr>
            <a:r>
              <a:rPr lang="en-GB" sz="3200" dirty="0">
                <a:solidFill>
                  <a:schemeClr val="bg1"/>
                </a:solidFill>
              </a:rPr>
              <a:t>Multiple SDOH factors (education, literacy, income, gender, age) intersect to influence chronic disease prevalence.</a:t>
            </a:r>
          </a:p>
          <a:p>
            <a:endParaRPr lang="en-GB" sz="3200" dirty="0">
              <a:solidFill>
                <a:schemeClr val="bg1"/>
              </a:solidFill>
            </a:endParaRPr>
          </a:p>
        </p:txBody>
      </p:sp>
    </p:spTree>
    <p:extLst>
      <p:ext uri="{BB962C8B-B14F-4D97-AF65-F5344CB8AC3E}">
        <p14:creationId xmlns:p14="http://schemas.microsoft.com/office/powerpoint/2010/main" val="310975718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719E14-2EBE-6B00-7946-1440CD2D4AB0}"/>
            </a:ext>
          </a:extLst>
        </p:cNvPr>
        <p:cNvGrpSpPr/>
        <p:nvPr/>
      </p:nvGrpSpPr>
      <p:grpSpPr>
        <a:xfrm>
          <a:off x="0" y="0"/>
          <a:ext cx="0" cy="0"/>
          <a:chOff x="0" y="0"/>
          <a:chExt cx="0" cy="0"/>
        </a:xfrm>
      </p:grpSpPr>
      <p:pic>
        <p:nvPicPr>
          <p:cNvPr id="3" name="Picture 2" descr="Water droplets on a leaf&#10;&#10;AI-generated content may be incorrect.">
            <a:extLst>
              <a:ext uri="{FF2B5EF4-FFF2-40B4-BE49-F238E27FC236}">
                <a16:creationId xmlns:a16="http://schemas.microsoft.com/office/drawing/2014/main" id="{CDF9912B-9C1E-4B9D-7CDD-88E9191E979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0800" y="21770"/>
            <a:ext cx="12192000" cy="6858000"/>
          </a:xfrm>
          <a:prstGeom prst="rect">
            <a:avLst/>
          </a:prstGeom>
        </p:spPr>
      </p:pic>
      <p:sp>
        <p:nvSpPr>
          <p:cNvPr id="2" name="Rectangle: Rounded Corners 1">
            <a:extLst>
              <a:ext uri="{FF2B5EF4-FFF2-40B4-BE49-F238E27FC236}">
                <a16:creationId xmlns:a16="http://schemas.microsoft.com/office/drawing/2014/main" id="{36832EE8-2B41-0759-415E-90EB3F79846C}"/>
              </a:ext>
            </a:extLst>
          </p:cNvPr>
          <p:cNvSpPr/>
          <p:nvPr/>
        </p:nvSpPr>
        <p:spPr>
          <a:xfrm>
            <a:off x="203200" y="435428"/>
            <a:ext cx="11684000" cy="5965371"/>
          </a:xfrm>
          <a:prstGeom prst="round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 name="TextBox 4">
            <a:extLst>
              <a:ext uri="{FF2B5EF4-FFF2-40B4-BE49-F238E27FC236}">
                <a16:creationId xmlns:a16="http://schemas.microsoft.com/office/drawing/2014/main" id="{397C4869-DBDD-BBD3-2C02-645FF1B03E5C}"/>
              </a:ext>
            </a:extLst>
          </p:cNvPr>
          <p:cNvSpPr txBox="1"/>
          <p:nvPr/>
        </p:nvSpPr>
        <p:spPr>
          <a:xfrm>
            <a:off x="2017489" y="217714"/>
            <a:ext cx="7910286" cy="646331"/>
          </a:xfrm>
          <a:prstGeom prst="rect">
            <a:avLst/>
          </a:prstGeom>
          <a:noFill/>
        </p:spPr>
        <p:txBody>
          <a:bodyPr wrap="square" rtlCol="0">
            <a:spAutoFit/>
          </a:bodyPr>
          <a:lstStyle/>
          <a:p>
            <a:pPr algn="ctr"/>
            <a:r>
              <a:rPr lang="en-GB" sz="3600" b="1" dirty="0">
                <a:solidFill>
                  <a:schemeClr val="bg1"/>
                </a:solidFill>
              </a:rPr>
              <a:t>RECOMMENDATION</a:t>
            </a:r>
          </a:p>
        </p:txBody>
      </p:sp>
      <p:sp>
        <p:nvSpPr>
          <p:cNvPr id="6" name="Oval 5">
            <a:extLst>
              <a:ext uri="{FF2B5EF4-FFF2-40B4-BE49-F238E27FC236}">
                <a16:creationId xmlns:a16="http://schemas.microsoft.com/office/drawing/2014/main" id="{DD215205-F98F-F86D-5E03-32BBF9A27B80}"/>
              </a:ext>
            </a:extLst>
          </p:cNvPr>
          <p:cNvSpPr/>
          <p:nvPr/>
        </p:nvSpPr>
        <p:spPr>
          <a:xfrm>
            <a:off x="8098975" y="2028369"/>
            <a:ext cx="3722912" cy="3182259"/>
          </a:xfrm>
          <a:prstGeom prst="ellipse">
            <a:avLst/>
          </a:prstGeom>
          <a:solidFill>
            <a:srgbClr val="98B5A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TextBox 6">
            <a:extLst>
              <a:ext uri="{FF2B5EF4-FFF2-40B4-BE49-F238E27FC236}">
                <a16:creationId xmlns:a16="http://schemas.microsoft.com/office/drawing/2014/main" id="{11E04D68-8373-BEEA-8EDE-F6FF2645A6E6}"/>
              </a:ext>
            </a:extLst>
          </p:cNvPr>
          <p:cNvSpPr txBox="1"/>
          <p:nvPr/>
        </p:nvSpPr>
        <p:spPr>
          <a:xfrm>
            <a:off x="8599920" y="2254678"/>
            <a:ext cx="2772228" cy="2677656"/>
          </a:xfrm>
          <a:prstGeom prst="rect">
            <a:avLst/>
          </a:prstGeom>
          <a:noFill/>
        </p:spPr>
        <p:txBody>
          <a:bodyPr wrap="square" rtlCol="0">
            <a:spAutoFit/>
          </a:bodyPr>
          <a:lstStyle/>
          <a:p>
            <a:pPr algn="ctr"/>
            <a:r>
              <a:rPr lang="en-GB" sz="2800" b="1" dirty="0">
                <a:solidFill>
                  <a:schemeClr val="bg1"/>
                </a:solidFill>
              </a:rPr>
              <a:t>Strengthen Automated SDOH Monitoring to Reduce Decision Lag</a:t>
            </a:r>
            <a:endParaRPr lang="en-GB" sz="2800" dirty="0">
              <a:solidFill>
                <a:schemeClr val="bg1"/>
              </a:solidFill>
            </a:endParaRPr>
          </a:p>
        </p:txBody>
      </p:sp>
      <p:sp>
        <p:nvSpPr>
          <p:cNvPr id="10" name="Rectangle: Rounded Corners 9">
            <a:extLst>
              <a:ext uri="{FF2B5EF4-FFF2-40B4-BE49-F238E27FC236}">
                <a16:creationId xmlns:a16="http://schemas.microsoft.com/office/drawing/2014/main" id="{5B8CD9C2-0F2A-BFFB-E124-E11122EF6DB8}"/>
              </a:ext>
            </a:extLst>
          </p:cNvPr>
          <p:cNvSpPr/>
          <p:nvPr/>
        </p:nvSpPr>
        <p:spPr>
          <a:xfrm>
            <a:off x="58064" y="816880"/>
            <a:ext cx="7975598" cy="5823406"/>
          </a:xfrm>
          <a:prstGeom prst="roundRect">
            <a:avLst/>
          </a:prstGeom>
          <a:solidFill>
            <a:srgbClr val="98B5A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TextBox 11">
            <a:extLst>
              <a:ext uri="{FF2B5EF4-FFF2-40B4-BE49-F238E27FC236}">
                <a16:creationId xmlns:a16="http://schemas.microsoft.com/office/drawing/2014/main" id="{B4F7713A-A8E6-280C-DCE7-E59E493FB431}"/>
              </a:ext>
            </a:extLst>
          </p:cNvPr>
          <p:cNvSpPr txBox="1"/>
          <p:nvPr/>
        </p:nvSpPr>
        <p:spPr>
          <a:xfrm>
            <a:off x="370113" y="1117143"/>
            <a:ext cx="7255567" cy="5016758"/>
          </a:xfrm>
          <a:prstGeom prst="rect">
            <a:avLst/>
          </a:prstGeom>
          <a:noFill/>
        </p:spPr>
        <p:txBody>
          <a:bodyPr wrap="square" rtlCol="0">
            <a:spAutoFit/>
          </a:bodyPr>
          <a:lstStyle/>
          <a:p>
            <a:r>
              <a:rPr lang="en-GB" sz="3200" dirty="0">
                <a:solidFill>
                  <a:schemeClr val="bg1"/>
                </a:solidFill>
              </a:rPr>
              <a:t>Implement automated workflows that continuously update SDOH indicators and trigger alerts when thresholds are breached (e.g., rising chronic disease rates among low-literacy or moderate-income populations).</a:t>
            </a:r>
          </a:p>
          <a:p>
            <a:endParaRPr lang="en-GB" sz="3200" dirty="0">
              <a:solidFill>
                <a:schemeClr val="bg1"/>
              </a:solidFill>
            </a:endParaRPr>
          </a:p>
          <a:p>
            <a:r>
              <a:rPr lang="en-GB" sz="3200" dirty="0">
                <a:solidFill>
                  <a:schemeClr val="bg1"/>
                </a:solidFill>
              </a:rPr>
              <a:t>This reduces reliance on static reports and ensures decision-makers have </a:t>
            </a:r>
            <a:r>
              <a:rPr lang="en-GB" sz="3200" b="1" dirty="0">
                <a:solidFill>
                  <a:schemeClr val="bg1"/>
                </a:solidFill>
              </a:rPr>
              <a:t>real-time, actionable insights</a:t>
            </a:r>
            <a:r>
              <a:rPr lang="en-GB" sz="3200" dirty="0">
                <a:solidFill>
                  <a:schemeClr val="bg1"/>
                </a:solidFill>
              </a:rPr>
              <a:t>.</a:t>
            </a:r>
          </a:p>
        </p:txBody>
      </p:sp>
      <p:sp>
        <p:nvSpPr>
          <p:cNvPr id="13" name="Arrow: Right 12">
            <a:extLst>
              <a:ext uri="{FF2B5EF4-FFF2-40B4-BE49-F238E27FC236}">
                <a16:creationId xmlns:a16="http://schemas.microsoft.com/office/drawing/2014/main" id="{895E0736-F82E-9411-22A4-307271E24B7B}"/>
              </a:ext>
            </a:extLst>
          </p:cNvPr>
          <p:cNvSpPr/>
          <p:nvPr/>
        </p:nvSpPr>
        <p:spPr>
          <a:xfrm rot="18760551">
            <a:off x="8258835" y="5184122"/>
            <a:ext cx="682171" cy="975536"/>
          </a:xfrm>
          <a:prstGeom prst="rightArrow">
            <a:avLst/>
          </a:prstGeom>
          <a:solidFill>
            <a:srgbClr val="92D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373640529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3EDC79-0EC4-EB1E-56E7-9F4EF0678FEF}"/>
            </a:ext>
          </a:extLst>
        </p:cNvPr>
        <p:cNvGrpSpPr/>
        <p:nvPr/>
      </p:nvGrpSpPr>
      <p:grpSpPr>
        <a:xfrm>
          <a:off x="0" y="0"/>
          <a:ext cx="0" cy="0"/>
          <a:chOff x="0" y="0"/>
          <a:chExt cx="0" cy="0"/>
        </a:xfrm>
      </p:grpSpPr>
      <p:pic>
        <p:nvPicPr>
          <p:cNvPr id="3" name="Picture 2" descr="Water droplets on a leaf&#10;&#10;AI-generated content may be incorrect.">
            <a:extLst>
              <a:ext uri="{FF2B5EF4-FFF2-40B4-BE49-F238E27FC236}">
                <a16:creationId xmlns:a16="http://schemas.microsoft.com/office/drawing/2014/main" id="{1160C1EB-7C61-9E00-2DF4-80CBE5ECC5E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Rectangle: Rounded Corners 1">
            <a:extLst>
              <a:ext uri="{FF2B5EF4-FFF2-40B4-BE49-F238E27FC236}">
                <a16:creationId xmlns:a16="http://schemas.microsoft.com/office/drawing/2014/main" id="{234B2C9C-DC96-DB59-EE61-938C6419C627}"/>
              </a:ext>
            </a:extLst>
          </p:cNvPr>
          <p:cNvSpPr/>
          <p:nvPr/>
        </p:nvSpPr>
        <p:spPr>
          <a:xfrm>
            <a:off x="203200" y="435428"/>
            <a:ext cx="11684000" cy="5965371"/>
          </a:xfrm>
          <a:prstGeom prst="round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5" name="TextBox 14">
            <a:extLst>
              <a:ext uri="{FF2B5EF4-FFF2-40B4-BE49-F238E27FC236}">
                <a16:creationId xmlns:a16="http://schemas.microsoft.com/office/drawing/2014/main" id="{6263E405-EFA5-2341-8508-DF6C2FB4982A}"/>
              </a:ext>
            </a:extLst>
          </p:cNvPr>
          <p:cNvSpPr txBox="1"/>
          <p:nvPr/>
        </p:nvSpPr>
        <p:spPr>
          <a:xfrm>
            <a:off x="2902857" y="188687"/>
            <a:ext cx="6923314" cy="646331"/>
          </a:xfrm>
          <a:prstGeom prst="rect">
            <a:avLst/>
          </a:prstGeom>
          <a:noFill/>
        </p:spPr>
        <p:txBody>
          <a:bodyPr wrap="square" rtlCol="0">
            <a:spAutoFit/>
          </a:bodyPr>
          <a:lstStyle/>
          <a:p>
            <a:pPr algn="ctr"/>
            <a:r>
              <a:rPr lang="en-GB" sz="3600" dirty="0">
                <a:solidFill>
                  <a:schemeClr val="bg1"/>
                </a:solidFill>
              </a:rPr>
              <a:t>CONCLUSION</a:t>
            </a:r>
          </a:p>
        </p:txBody>
      </p:sp>
      <p:sp>
        <p:nvSpPr>
          <p:cNvPr id="16" name="Rectangle: Rounded Corners 15">
            <a:extLst>
              <a:ext uri="{FF2B5EF4-FFF2-40B4-BE49-F238E27FC236}">
                <a16:creationId xmlns:a16="http://schemas.microsoft.com/office/drawing/2014/main" id="{7F7D9219-9E79-A5F2-6B52-DDC0CDCD196E}"/>
              </a:ext>
            </a:extLst>
          </p:cNvPr>
          <p:cNvSpPr/>
          <p:nvPr/>
        </p:nvSpPr>
        <p:spPr>
          <a:xfrm>
            <a:off x="203200" y="991049"/>
            <a:ext cx="11785600" cy="5834294"/>
          </a:xfrm>
          <a:prstGeom prst="roundRect">
            <a:avLst/>
          </a:prstGeom>
          <a:solidFill>
            <a:srgbClr val="98B5A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 name="TextBox 3">
            <a:extLst>
              <a:ext uri="{FF2B5EF4-FFF2-40B4-BE49-F238E27FC236}">
                <a16:creationId xmlns:a16="http://schemas.microsoft.com/office/drawing/2014/main" id="{0CB5CF3A-F421-7E01-915C-40D2D5A548B2}"/>
              </a:ext>
            </a:extLst>
          </p:cNvPr>
          <p:cNvSpPr txBox="1"/>
          <p:nvPr/>
        </p:nvSpPr>
        <p:spPr>
          <a:xfrm>
            <a:off x="420914" y="1081759"/>
            <a:ext cx="11887200" cy="6133026"/>
          </a:xfrm>
          <a:prstGeom prst="rect">
            <a:avLst/>
          </a:prstGeom>
          <a:noFill/>
        </p:spPr>
        <p:txBody>
          <a:bodyPr wrap="square" rtlCol="0">
            <a:spAutoFit/>
          </a:bodyPr>
          <a:lstStyle/>
          <a:p>
            <a:pPr>
              <a:lnSpc>
                <a:spcPct val="150000"/>
              </a:lnSpc>
            </a:pPr>
            <a:r>
              <a:rPr lang="en-GB" sz="2400" dirty="0">
                <a:solidFill>
                  <a:schemeClr val="bg1"/>
                </a:solidFill>
              </a:rPr>
              <a:t>The analysis of Social Determinants of Health highlights clear disparities driven by education level, health literacy, income status, age, and gender, all of which significantly influence chronic disease prevalence. Populations with lower educational attainment and limited health literacy are disproportionately affected, while adults, elderly individuals, and females show higher vulnerability to chronic conditions.</a:t>
            </a:r>
          </a:p>
          <a:p>
            <a:pPr>
              <a:lnSpc>
                <a:spcPct val="150000"/>
              </a:lnSpc>
            </a:pPr>
            <a:r>
              <a:rPr lang="en-GB" sz="2400" dirty="0">
                <a:solidFill>
                  <a:schemeClr val="bg1"/>
                </a:solidFill>
              </a:rPr>
              <a:t>By integrating SDOH data into a unified system, automating data processing, and leveraging real-time dashboards, the organisation can move from delayed, reactive decision-making to timely, proactive interventions. These data-driven recommendations enable targeted resource allocation, early risk identification, and improved health outcomes, ultimately supporting a more equitable and efficient healthcare system.</a:t>
            </a:r>
          </a:p>
          <a:p>
            <a:pPr>
              <a:lnSpc>
                <a:spcPct val="150000"/>
              </a:lnSpc>
            </a:pPr>
            <a:endParaRPr lang="en-GB" sz="2400" dirty="0">
              <a:solidFill>
                <a:schemeClr val="bg1"/>
              </a:solidFill>
            </a:endParaRPr>
          </a:p>
        </p:txBody>
      </p:sp>
    </p:spTree>
    <p:extLst>
      <p:ext uri="{BB962C8B-B14F-4D97-AF65-F5344CB8AC3E}">
        <p14:creationId xmlns:p14="http://schemas.microsoft.com/office/powerpoint/2010/main" val="19920001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descr="A screenshot of a computer&#10;&#10;AI-generated content may be incorrect.">
            <a:extLst>
              <a:ext uri="{FF2B5EF4-FFF2-40B4-BE49-F238E27FC236}">
                <a16:creationId xmlns:a16="http://schemas.microsoft.com/office/drawing/2014/main" id="{C8673A13-2F4A-D6A8-A301-C3433BDA666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127394876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screenshot of a computer&#10;&#10;AI-generated content may be incorrect.">
            <a:extLst>
              <a:ext uri="{FF2B5EF4-FFF2-40B4-BE49-F238E27FC236}">
                <a16:creationId xmlns:a16="http://schemas.microsoft.com/office/drawing/2014/main" id="{B45DB6FD-3F8F-299E-ED5E-FFF8B0DB0E8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12192000" cy="6857999"/>
          </a:xfrm>
          <a:prstGeom prst="rect">
            <a:avLst/>
          </a:prstGeom>
        </p:spPr>
      </p:pic>
    </p:spTree>
    <p:extLst>
      <p:ext uri="{BB962C8B-B14F-4D97-AF65-F5344CB8AC3E}">
        <p14:creationId xmlns:p14="http://schemas.microsoft.com/office/powerpoint/2010/main" val="50126307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620AF2-D5C0-A270-D9A3-8B5BACAF0EE7}"/>
            </a:ext>
          </a:extLst>
        </p:cNvPr>
        <p:cNvGrpSpPr/>
        <p:nvPr/>
      </p:nvGrpSpPr>
      <p:grpSpPr>
        <a:xfrm>
          <a:off x="0" y="0"/>
          <a:ext cx="0" cy="0"/>
          <a:chOff x="0" y="0"/>
          <a:chExt cx="0" cy="0"/>
        </a:xfrm>
      </p:grpSpPr>
      <p:pic>
        <p:nvPicPr>
          <p:cNvPr id="3" name="Picture 2" descr="Water droplets on a leaf&#10;&#10;AI-generated content may be incorrect.">
            <a:extLst>
              <a:ext uri="{FF2B5EF4-FFF2-40B4-BE49-F238E27FC236}">
                <a16:creationId xmlns:a16="http://schemas.microsoft.com/office/drawing/2014/main" id="{C6061BE4-1FF6-6809-DECB-7891AE51330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Rectangle: Rounded Corners 1">
            <a:extLst>
              <a:ext uri="{FF2B5EF4-FFF2-40B4-BE49-F238E27FC236}">
                <a16:creationId xmlns:a16="http://schemas.microsoft.com/office/drawing/2014/main" id="{A53A9198-CB3D-C372-4A47-BEDF28CB2D1C}"/>
              </a:ext>
            </a:extLst>
          </p:cNvPr>
          <p:cNvSpPr/>
          <p:nvPr/>
        </p:nvSpPr>
        <p:spPr>
          <a:xfrm>
            <a:off x="203200" y="435428"/>
            <a:ext cx="11684000" cy="5965371"/>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 name="Oval 4">
            <a:extLst>
              <a:ext uri="{FF2B5EF4-FFF2-40B4-BE49-F238E27FC236}">
                <a16:creationId xmlns:a16="http://schemas.microsoft.com/office/drawing/2014/main" id="{2DFAF9FA-4D66-9022-A4F5-3764F9A0CFAA}"/>
              </a:ext>
            </a:extLst>
          </p:cNvPr>
          <p:cNvSpPr/>
          <p:nvPr/>
        </p:nvSpPr>
        <p:spPr>
          <a:xfrm>
            <a:off x="3367314" y="1973943"/>
            <a:ext cx="5109029" cy="2467428"/>
          </a:xfrm>
          <a:prstGeom prst="ellipse">
            <a:avLst/>
          </a:prstGeom>
          <a:solidFill>
            <a:srgbClr val="98B5A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 name="TextBox 5">
            <a:extLst>
              <a:ext uri="{FF2B5EF4-FFF2-40B4-BE49-F238E27FC236}">
                <a16:creationId xmlns:a16="http://schemas.microsoft.com/office/drawing/2014/main" id="{2BE6D23E-C026-4FA7-6678-862353ABF79B}"/>
              </a:ext>
            </a:extLst>
          </p:cNvPr>
          <p:cNvSpPr txBox="1"/>
          <p:nvPr/>
        </p:nvSpPr>
        <p:spPr>
          <a:xfrm>
            <a:off x="4194629" y="2888343"/>
            <a:ext cx="3570514" cy="707886"/>
          </a:xfrm>
          <a:prstGeom prst="rect">
            <a:avLst/>
          </a:prstGeom>
          <a:noFill/>
        </p:spPr>
        <p:txBody>
          <a:bodyPr wrap="square" rtlCol="0">
            <a:spAutoFit/>
          </a:bodyPr>
          <a:lstStyle/>
          <a:p>
            <a:pPr algn="ctr"/>
            <a:r>
              <a:rPr lang="en-GB" sz="4000" b="1" dirty="0">
                <a:solidFill>
                  <a:schemeClr val="bg1"/>
                </a:solidFill>
              </a:rPr>
              <a:t>THANK YOU</a:t>
            </a:r>
          </a:p>
        </p:txBody>
      </p:sp>
    </p:spTree>
    <p:extLst>
      <p:ext uri="{BB962C8B-B14F-4D97-AF65-F5344CB8AC3E}">
        <p14:creationId xmlns:p14="http://schemas.microsoft.com/office/powerpoint/2010/main" val="337034820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4557</TotalTime>
  <Words>939</Words>
  <Application>Microsoft Office PowerPoint</Application>
  <PresentationFormat>Widescreen</PresentationFormat>
  <Paragraphs>99</Paragraphs>
  <Slides>22</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22</vt:i4>
      </vt:variant>
    </vt:vector>
  </HeadingPairs>
  <TitlesOfParts>
    <vt:vector size="27" baseType="lpstr">
      <vt:lpstr>Aptos</vt:lpstr>
      <vt:lpstr>Aptos Display</vt:lpstr>
      <vt:lpstr>Arial</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EMMANUEL DARAMOLA</dc:creator>
  <cp:lastModifiedBy>EMMANUEL DARAMOLA</cp:lastModifiedBy>
  <cp:revision>12</cp:revision>
  <dcterms:created xsi:type="dcterms:W3CDTF">2026-01-22T02:06:53Z</dcterms:created>
  <dcterms:modified xsi:type="dcterms:W3CDTF">2026-02-04T00:01:29Z</dcterms:modified>
</cp:coreProperties>
</file>